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e70fd74de64b45" /><Relationship Type="http://schemas.openxmlformats.org/officeDocument/2006/relationships/extended-properties" Target="/docProps/app.xml" Id="Rd1366bc27f494764" /><Relationship Type="http://schemas.openxmlformats.org/officeDocument/2006/relationships/officeDocument" Target="/ppt/presentation.xml" Id="R79191c39dba74e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283198d8554efc"/>
  </p:sldMasterIdLst>
  <p:notesMasterIdLst>
    <p:notesMasterId xmlns:r="http://schemas.openxmlformats.org/officeDocument/2006/relationships" r:id="Rf6a0955c8a8d4981"/>
  </p:notesMasterIdLst>
  <p:sldIdLst>
    <p:sldId xmlns:r="http://schemas.openxmlformats.org/officeDocument/2006/relationships" id="256" r:id="R6f4239b0ab5f44f3"/>
    <p:sldId xmlns:r="http://schemas.openxmlformats.org/officeDocument/2006/relationships" id="257" r:id="R6289dd0f54f44f00"/>
    <p:sldId xmlns:r="http://schemas.openxmlformats.org/officeDocument/2006/relationships" id="258" r:id="Re232c14181e84d2f"/>
    <p:sldId xmlns:r="http://schemas.openxmlformats.org/officeDocument/2006/relationships" id="259" r:id="Rf93b731affe64dc9"/>
    <p:sldId xmlns:r="http://schemas.openxmlformats.org/officeDocument/2006/relationships" id="260" r:id="R8056e211686e4c67"/>
    <p:sldId xmlns:r="http://schemas.openxmlformats.org/officeDocument/2006/relationships" id="261" r:id="Rae30a0b139ab44e0"/>
    <p:sldId xmlns:r="http://schemas.openxmlformats.org/officeDocument/2006/relationships" id="262" r:id="R83cb50478ae648da"/>
    <p:sldId xmlns:r="http://schemas.openxmlformats.org/officeDocument/2006/relationships" id="263" r:id="R8a9ef8b58e874467"/>
    <p:sldId xmlns:r="http://schemas.openxmlformats.org/officeDocument/2006/relationships" id="264" r:id="R8596d0936ab04e81"/>
    <p:sldId xmlns:r="http://schemas.openxmlformats.org/officeDocument/2006/relationships" id="265" r:id="R850c2fcf156c498c"/>
    <p:sldId xmlns:r="http://schemas.openxmlformats.org/officeDocument/2006/relationships" id="266" r:id="Rf6dd1589002f471c"/>
    <p:sldId xmlns:r="http://schemas.openxmlformats.org/officeDocument/2006/relationships" id="267" r:id="R566d21534aaa4eb0"/>
    <p:sldId xmlns:r="http://schemas.openxmlformats.org/officeDocument/2006/relationships" id="268" r:id="R7486aecdea9047fe"/>
    <p:sldId xmlns:r="http://schemas.openxmlformats.org/officeDocument/2006/relationships" id="269" r:id="R01fb7c33aa4f4a97"/>
    <p:sldId xmlns:r="http://schemas.openxmlformats.org/officeDocument/2006/relationships" id="270" r:id="R141e7b1e08264521"/>
    <p:sldId xmlns:r="http://schemas.openxmlformats.org/officeDocument/2006/relationships" id="271" r:id="R16ab5bef268649ee"/>
    <p:sldId xmlns:r="http://schemas.openxmlformats.org/officeDocument/2006/relationships" id="272" r:id="R6d4c67ccb49d4842"/>
    <p:sldId xmlns:r="http://schemas.openxmlformats.org/officeDocument/2006/relationships" id="273" r:id="R809062caa82348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1192cb07234588" /><Relationship Type="http://schemas.openxmlformats.org/officeDocument/2006/relationships/slideMaster" Target="/ppt/slideMasters/slideMaster1.xml" Id="R59283198d8554efc" /><Relationship Type="http://schemas.openxmlformats.org/officeDocument/2006/relationships/notesMaster" Target="/ppt/notesMasters/notesMaster1.xml" Id="Rf6a0955c8a8d4981" /><Relationship Type="http://schemas.openxmlformats.org/officeDocument/2006/relationships/presProps" Target="/ppt/presProps.xml" Id="R459c26aeb2e8448e" /><Relationship Type="http://schemas.openxmlformats.org/officeDocument/2006/relationships/tableStyles" Target="/ppt/tableStyles.xml" Id="R0652eb0e97bd4c77" /><Relationship Type="http://schemas.openxmlformats.org/officeDocument/2006/relationships/slide" Target="/ppt/slides/slide1.xml" Id="R6f4239b0ab5f44f3" /><Relationship Type="http://schemas.openxmlformats.org/officeDocument/2006/relationships/slide" Target="/ppt/slides/slide2.xml" Id="R6289dd0f54f44f00" /><Relationship Type="http://schemas.openxmlformats.org/officeDocument/2006/relationships/slide" Target="/ppt/slides/slide3.xml" Id="Re232c14181e84d2f" /><Relationship Type="http://schemas.openxmlformats.org/officeDocument/2006/relationships/slide" Target="/ppt/slides/slide4.xml" Id="Rf93b731affe64dc9" /><Relationship Type="http://schemas.openxmlformats.org/officeDocument/2006/relationships/slide" Target="/ppt/slides/slide5.xml" Id="R8056e211686e4c67" /><Relationship Type="http://schemas.openxmlformats.org/officeDocument/2006/relationships/slide" Target="/ppt/slides/slide6.xml" Id="Rae30a0b139ab44e0" /><Relationship Type="http://schemas.openxmlformats.org/officeDocument/2006/relationships/slide" Target="/ppt/slides/slide7.xml" Id="R83cb50478ae648da" /><Relationship Type="http://schemas.openxmlformats.org/officeDocument/2006/relationships/slide" Target="/ppt/slides/slide8.xml" Id="R8a9ef8b58e874467" /><Relationship Type="http://schemas.openxmlformats.org/officeDocument/2006/relationships/slide" Target="/ppt/slides/slide9.xml" Id="R8596d0936ab04e81" /><Relationship Type="http://schemas.openxmlformats.org/officeDocument/2006/relationships/slide" Target="/ppt/slides/slide10.xml" Id="R850c2fcf156c498c" /><Relationship Type="http://schemas.openxmlformats.org/officeDocument/2006/relationships/slide" Target="/ppt/slides/slide11.xml" Id="Rf6dd1589002f471c" /><Relationship Type="http://schemas.openxmlformats.org/officeDocument/2006/relationships/slide" Target="/ppt/slides/slide12.xml" Id="R566d21534aaa4eb0" /><Relationship Type="http://schemas.openxmlformats.org/officeDocument/2006/relationships/slide" Target="/ppt/slides/slide13.xml" Id="R7486aecdea9047fe" /><Relationship Type="http://schemas.openxmlformats.org/officeDocument/2006/relationships/slide" Target="/ppt/slides/slide14.xml" Id="R01fb7c33aa4f4a97" /><Relationship Type="http://schemas.openxmlformats.org/officeDocument/2006/relationships/slide" Target="/ppt/slides/slide15.xml" Id="R141e7b1e08264521" /><Relationship Type="http://schemas.openxmlformats.org/officeDocument/2006/relationships/slide" Target="/ppt/slides/slide16.xml" Id="R16ab5bef268649ee" /><Relationship Type="http://schemas.openxmlformats.org/officeDocument/2006/relationships/slide" Target="/ppt/slides/slide17.xml" Id="R6d4c67ccb49d4842" /><Relationship Type="http://schemas.openxmlformats.org/officeDocument/2006/relationships/slide" Target="/ppt/slides/slide18.xml" Id="R809062caa82348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3416bd17ad4d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ef891fe794f36" /><Relationship Type="http://schemas.openxmlformats.org/officeDocument/2006/relationships/notesMaster" Target="/ppt/notesMasters/notesMaster1.xml" Id="R190e0f846f1244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346f1752e849f6" /><Relationship Type="http://schemas.openxmlformats.org/officeDocument/2006/relationships/notesMaster" Target="/ppt/notesMasters/notesMaster1.xml" Id="R8afcfd73b5f644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f5e7930eb144ef" /><Relationship Type="http://schemas.openxmlformats.org/officeDocument/2006/relationships/notesMaster" Target="/ppt/notesMasters/notesMaster1.xml" Id="R47dd14c527714c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79508bade8424f" /><Relationship Type="http://schemas.openxmlformats.org/officeDocument/2006/relationships/notesMaster" Target="/ppt/notesMasters/notesMaster1.xml" Id="R27472dc9eff24d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4ed246fbd04ada" /><Relationship Type="http://schemas.openxmlformats.org/officeDocument/2006/relationships/notesMaster" Target="/ppt/notesMasters/notesMaster1.xml" Id="R293577ab7e5e4d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07d290a20248c2" /><Relationship Type="http://schemas.openxmlformats.org/officeDocument/2006/relationships/notesMaster" Target="/ppt/notesMasters/notesMaster1.xml" Id="R40d2f46594b348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6bdf520a7546ac" /><Relationship Type="http://schemas.openxmlformats.org/officeDocument/2006/relationships/notesMaster" Target="/ppt/notesMasters/notesMaster1.xml" Id="Rcbef6c1c76874f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49950fd7cc461a" /><Relationship Type="http://schemas.openxmlformats.org/officeDocument/2006/relationships/notesMaster" Target="/ppt/notesMasters/notesMaster1.xml" Id="R212f5dc849504c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4391cd96414038" /><Relationship Type="http://schemas.openxmlformats.org/officeDocument/2006/relationships/notesMaster" Target="/ppt/notesMasters/notesMaster1.xml" Id="R95c1ddf68a0444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55f50022cb4fe8" /><Relationship Type="http://schemas.openxmlformats.org/officeDocument/2006/relationships/notesMaster" Target="/ppt/notesMasters/notesMaster1.xml" Id="Rb5110d1ce4d645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b18d0051d94c5c" /><Relationship Type="http://schemas.openxmlformats.org/officeDocument/2006/relationships/notesMaster" Target="/ppt/notesMasters/notesMaster1.xml" Id="R1e017250452140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ec7fa3ac75439c" /><Relationship Type="http://schemas.openxmlformats.org/officeDocument/2006/relationships/notesMaster" Target="/ppt/notesMasters/notesMaster1.xml" Id="R22e1d31b8e594f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a68830fa9f45ef" /><Relationship Type="http://schemas.openxmlformats.org/officeDocument/2006/relationships/notesMaster" Target="/ppt/notesMasters/notesMaster1.xml" Id="Rc353e99a3b8a4a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7abb9855c94ac0" /><Relationship Type="http://schemas.openxmlformats.org/officeDocument/2006/relationships/notesMaster" Target="/ppt/notesMasters/notesMaster1.xml" Id="Re26276e33e2845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fb4b42bbdd4b26" /><Relationship Type="http://schemas.openxmlformats.org/officeDocument/2006/relationships/notesMaster" Target="/ppt/notesMasters/notesMaster1.xml" Id="R63080d39886840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0ca43847894d68" /><Relationship Type="http://schemas.openxmlformats.org/officeDocument/2006/relationships/notesMaster" Target="/ppt/notesMasters/notesMaster1.xml" Id="R74dd414001bb43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8894d69d4f4fe5" /><Relationship Type="http://schemas.openxmlformats.org/officeDocument/2006/relationships/notesMaster" Target="/ppt/notesMasters/notesMaster1.xml" Id="R4baf9abbce7a45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6cd6f9626141bb" /><Relationship Type="http://schemas.openxmlformats.org/officeDocument/2006/relationships/notesMaster" Target="/ppt/notesMasters/notesMaster1.xml" Id="R576308ce090847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[종합설계 2] 문제정의서, 표지.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보고서의 1~4장 순서로 구성. 제출 전 자가점검표는 발표에서 제외.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§1.1, 양식 3 최종 선정 HMW.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§1.1, §1.3. 인터뷰 및 문의 분석 내용.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§1.2 및 참고문헌 [1] NAVER Cloud, [2] Intercom, [3] Fisher Scientific, [4] Benita 외. 오른쪽 문구는 팀의 비교 분석.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§1.3, §2.1.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§2.1, §2.2.2.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§2.2.1. 아이디어 번호는 양식 3 §3.3과 대응. 그룹 평균 점수는 양식 3 평가.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§2.2.3 컨셉 시트 및 도식. 도식은 발표용 편집 가능 도형으로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§2.3, §2.2.3.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§2.4. 목표치는 계획값.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§3.1~§3.2.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§3.3.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§3.4~§3.5.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§4.1.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§4.2. 주차별 산출물을 발표용 단계로 묶음.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문제정의서 §4.3.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17a4a675b49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bffbe8a4042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9ad5b0eb045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86ffa063b41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c5319319641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b0622c89143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A60792-44E1-45A3-B2F2-FC2F63C067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9C6C8A-6398-4E49-B1C1-C70F866E00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5B1D48-DC0E-4A8F-A3AB-E24AB74A9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70E9AB-F353-4322-BEF6-841F9DCD5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FA7F1D-E326-4E88-8612-900654FCDF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03B24D-EF9C-4F83-9A8E-94B97DC91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AFD1AD-1DD7-4561-BFC0-B8A2753E5B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084609-4134-4B44-9008-1F16A69D0D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8F85BD-4501-483B-AAE6-143209FAE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511D48-F2DE-496F-9B6B-E039871089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279aab531a4daa" /><Relationship Type="http://schemas.openxmlformats.org/officeDocument/2006/relationships/slideLayout" Target="/ppt/slideLayouts/slideLayout1.xml" Id="Re732db4e964843dd" /><Relationship Type="http://schemas.openxmlformats.org/officeDocument/2006/relationships/slideLayout" Target="/ppt/slideLayouts/slideLayout2.xml" Id="R43a8a0cc8af24af0" /><Relationship Type="http://schemas.openxmlformats.org/officeDocument/2006/relationships/slideLayout" Target="/ppt/slideLayouts/slideLayout3.xml" Id="R71844f61acc14e17" /><Relationship Type="http://schemas.openxmlformats.org/officeDocument/2006/relationships/slideLayout" Target="/ppt/slideLayouts/slideLayout4.xml" Id="Re986c5ebd37c4d00" /><Relationship Type="http://schemas.openxmlformats.org/officeDocument/2006/relationships/slideLayout" Target="/ppt/slideLayouts/slideLayout5.xml" Id="R32afa8a69b704e61" /><Relationship Type="http://schemas.openxmlformats.org/officeDocument/2006/relationships/slideLayout" Target="/ppt/slideLayouts/slideLayout6.xml" Id="Rdeda74c20bf845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32db4e964843dd"/>
    <p:sldLayoutId xmlns:r="http://schemas.openxmlformats.org/officeDocument/2006/relationships" id="2147483650" r:id="R43a8a0cc8af24af0"/>
    <p:sldLayoutId xmlns:r="http://schemas.openxmlformats.org/officeDocument/2006/relationships" id="2147483651" r:id="R71844f61acc14e17"/>
    <p:sldLayoutId xmlns:r="http://schemas.openxmlformats.org/officeDocument/2006/relationships" id="2147483652" r:id="Re986c5ebd37c4d00"/>
    <p:sldLayoutId xmlns:r="http://schemas.openxmlformats.org/officeDocument/2006/relationships" id="2147483653" r:id="R32afa8a69b704e61"/>
    <p:sldLayoutId xmlns:r="http://schemas.openxmlformats.org/officeDocument/2006/relationships" id="2147483654" r:id="Rdeda74c20bf845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e7cbe80974725" /><Relationship Type="http://schemas.openxmlformats.org/officeDocument/2006/relationships/notesSlide" Target="/ppt/notesSlides/notesSlide1.xml" Id="R902e94ec4c2143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858ccf213479b" /><Relationship Type="http://schemas.openxmlformats.org/officeDocument/2006/relationships/notesSlide" Target="/ppt/notesSlides/notesSlide2.xml" Id="R8c4b10ec45ad43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ec970436249c1" /><Relationship Type="http://schemas.openxmlformats.org/officeDocument/2006/relationships/notesSlide" Target="/ppt/notesSlides/notesSlide3.xml" Id="R2671cbbdca7a49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39e597c7e404d" /><Relationship Type="http://schemas.openxmlformats.org/officeDocument/2006/relationships/notesSlide" Target="/ppt/notesSlides/notesSlide4.xml" Id="Rd8ab6e1bb1bd4d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1f9f0689f4452e" /><Relationship Type="http://schemas.openxmlformats.org/officeDocument/2006/relationships/notesSlide" Target="/ppt/notesSlides/notesSlide5.xml" Id="R8a987c7ab8aa4b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2fd16df304305" /><Relationship Type="http://schemas.openxmlformats.org/officeDocument/2006/relationships/notesSlide" Target="/ppt/notesSlides/notesSlide6.xml" Id="Rf244069d1b9a4b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53eadc4384fb6" /><Relationship Type="http://schemas.openxmlformats.org/officeDocument/2006/relationships/notesSlide" Target="/ppt/notesSlides/notesSlide7.xml" Id="R2d3b2cd644e24d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005bfb6754a6b" /><Relationship Type="http://schemas.openxmlformats.org/officeDocument/2006/relationships/notesSlide" Target="/ppt/notesSlides/notesSlide8.xml" Id="R74f0248fb3eb41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ccd37bf054ede" /><Relationship Type="http://schemas.openxmlformats.org/officeDocument/2006/relationships/notesSlide" Target="/ppt/notesSlides/notesSlide9.xml" Id="R6be11aee4d6e41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013fe56eb54215" /><Relationship Type="http://schemas.openxmlformats.org/officeDocument/2006/relationships/notesSlide" Target="/ppt/notesSlides/notesSlide10.xml" Id="R7742af58f72f4c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9976baf334acd" /><Relationship Type="http://schemas.openxmlformats.org/officeDocument/2006/relationships/notesSlide" Target="/ppt/notesSlides/notesSlide11.xml" Id="R8f709fb09fb945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9dd5091ce4392" /><Relationship Type="http://schemas.openxmlformats.org/officeDocument/2006/relationships/notesSlide" Target="/ppt/notesSlides/notesSlide12.xml" Id="R1afb21f071c548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970cbbf394451" /><Relationship Type="http://schemas.openxmlformats.org/officeDocument/2006/relationships/notesSlide" Target="/ppt/notesSlides/notesSlide13.xml" Id="R2d6ae39f07f243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031eff32b4709" /><Relationship Type="http://schemas.openxmlformats.org/officeDocument/2006/relationships/notesSlide" Target="/ppt/notesSlides/notesSlide14.xml" Id="R838cbf3943b44c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ae173e7e8644bf" /><Relationship Type="http://schemas.openxmlformats.org/officeDocument/2006/relationships/notesSlide" Target="/ppt/notesSlides/notesSlide15.xml" Id="R113f4a2fa5e344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34de812a6a4e5c" /><Relationship Type="http://schemas.openxmlformats.org/officeDocument/2006/relationships/notesSlide" Target="/ppt/notesSlides/notesSlide16.xml" Id="Rb07fa7d9291e4c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623330644b4f91" /><Relationship Type="http://schemas.openxmlformats.org/officeDocument/2006/relationships/notesSlide" Target="/ppt/notesSlides/notesSlide17.xml" Id="R811bccccd3f142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a583dbdb54c17" /><Relationship Type="http://schemas.openxmlformats.org/officeDocument/2006/relationships/notesSlide" Target="/ppt/notesSlides/notesSlide18.xml" Id="R6f5a3fb224ea41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문제정의서  연구개발계획서">
            <a:extLst xmlns:a="http://schemas.openxmlformats.org/drawingml/2006/main">
              <a:ext uri="{FF2B5EF4-FFF2-40B4-BE49-F238E27FC236}">
                <a16:creationId xmlns:a16="http://schemas.microsoft.com/office/drawing/2014/main" id="{B058C581-1C31-4BAE-B13D-4D68EAF7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A6CFCB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A6CFCB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A6CFCB"/>
                </a:solidFill>
                <a:latin typeface="NanumBarunGothic"/>
                <a:ea typeface="NanumBarunGothic"/>
                <a:cs typeface="NanumBarunGothic"/>
              </a:rPr>
              <a:t>문제정의서  연구개발계획서</a:t>
            </a:r>
          </a:p>
        </p:txBody>
      </p:sp>
      <p:sp>
        <p:nvSpPr>
          <p:cNvPr id="2" name="전문 기자재 쇼핑몰의&#10;AI 기반 문의 처리 ">
            <a:extLst xmlns:a="http://schemas.openxmlformats.org/drawingml/2006/main">
              <a:ext uri="{FF2B5EF4-FFF2-40B4-BE49-F238E27FC236}">
                <a16:creationId xmlns:a16="http://schemas.microsoft.com/office/drawing/2014/main" id="{6E28AC14-59A1-4EC3-B40A-0443A522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3900" b="1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rPr>
              <a:t>전문 기자재 쇼핑몰의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3900" b="1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rPr>
              <a:t>AI 기반 문의 처리 자동화 에이전트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685DF0AB-92B3-46A1-BD31-260219C1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5조  권경민 · 이우진">
            <a:extLst xmlns:a="http://schemas.openxmlformats.org/drawingml/2006/main">
              <a:ext uri="{FF2B5EF4-FFF2-40B4-BE49-F238E27FC236}">
                <a16:creationId xmlns:a16="http://schemas.microsoft.com/office/drawing/2014/main" id="{5BAD6F85-3962-4B38-80BF-7BF6F329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714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100" b="0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rPr>
              <a:t>5조  권경민 · 이우진</a:t>
            </a:r>
          </a:p>
        </p:txBody>
      </p:sp>
      <p:sp>
        <p:nvSpPr>
          <p:cNvPr id="5" name="2026. 10. 03.">
            <a:extLst xmlns:a="http://schemas.openxmlformats.org/drawingml/2006/main">
              <a:ext uri="{FF2B5EF4-FFF2-40B4-BE49-F238E27FC236}">
                <a16:creationId xmlns:a16="http://schemas.microsoft.com/office/drawing/2014/main" id="{730E06FD-950C-44F9-9246-09E0FF05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C4D6D6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C4D6D6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C4D6D6"/>
                </a:solidFill>
                <a:latin typeface="NanumBarunGothic"/>
                <a:ea typeface="NanumBarunGothic"/>
                <a:cs typeface="NanumBarunGothic"/>
              </a:rPr>
              <a:t>2026. 10. 03.</a:t>
            </a:r>
          </a:p>
        </p:txBody>
      </p:sp>
    </p:spTree>
    <p:extLst>
      <p:ext uri="{BB962C8B-B14F-4D97-AF65-F5344CB8AC3E}">
        <p14:creationId xmlns:p14="http://schemas.microsoft.com/office/powerpoint/2010/main" val="606270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발표 순서">
            <a:extLst xmlns:a="http://schemas.openxmlformats.org/drawingml/2006/main">
              <a:ext uri="{FF2B5EF4-FFF2-40B4-BE49-F238E27FC236}">
                <a16:creationId xmlns:a16="http://schemas.microsoft.com/office/drawing/2014/main" id="{E881E4C5-F93B-41AB-810C-8B2A4FB0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발표 순서</a:t>
            </a:r>
          </a:p>
        </p:txBody>
      </p:sp>
      <p:sp>
        <p:nvSpPr>
          <p:cNvPr id="2" name="목차">
            <a:extLst xmlns:a="http://schemas.openxmlformats.org/drawingml/2006/main">
              <a:ext uri="{FF2B5EF4-FFF2-40B4-BE49-F238E27FC236}">
                <a16:creationId xmlns:a16="http://schemas.microsoft.com/office/drawing/2014/main" id="{30A6DA42-AA8A-4FD4-84EA-7FF16597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목차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49389A36-1793-4ED3-8272-B4DB0194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8E53E891-D999-4BA9-9D41-CD5F7DBE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02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123E1C0F-C0ED-45C9-B7BC-213726BA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01</a:t>
            </a:r>
          </a:p>
        </p:txBody>
      </p:sp>
      <p:sp>
        <p:nvSpPr>
          <p:cNvPr id="6" name="연구개발의 배경 및 필요성">
            <a:extLst xmlns:a="http://schemas.openxmlformats.org/drawingml/2006/main">
              <a:ext uri="{FF2B5EF4-FFF2-40B4-BE49-F238E27FC236}">
                <a16:creationId xmlns:a16="http://schemas.microsoft.com/office/drawing/2014/main" id="{0802027C-09B1-4D2A-9DCA-95BA24BA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14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연구개발의 배경 및 필요성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67C31604-49D2-412C-98B1-D2F9679F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9DB950E1-0F3C-4CEE-9E66-098969DA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02</a:t>
            </a:r>
          </a:p>
        </p:txBody>
      </p:sp>
      <p:sp>
        <p:nvSpPr>
          <p:cNvPr id="9" name="연구개발의 목표 및 내용">
            <a:extLst xmlns:a="http://schemas.openxmlformats.org/drawingml/2006/main">
              <a:ext uri="{FF2B5EF4-FFF2-40B4-BE49-F238E27FC236}">
                <a16:creationId xmlns:a16="http://schemas.microsoft.com/office/drawing/2014/main" id="{4044842F-9366-460E-B23B-B31802CA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연구개발의 목표 및 내용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63022A03-8656-4FC7-A820-B693EB92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E78F56BF-4D2F-4B8B-B469-E1647EA6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03</a:t>
            </a:r>
          </a:p>
        </p:txBody>
      </p:sp>
      <p:sp>
        <p:nvSpPr>
          <p:cNvPr id="12" name="추진전략 및 방법">
            <a:extLst xmlns:a="http://schemas.openxmlformats.org/drawingml/2006/main">
              <a:ext uri="{FF2B5EF4-FFF2-40B4-BE49-F238E27FC236}">
                <a16:creationId xmlns:a16="http://schemas.microsoft.com/office/drawing/2014/main" id="{6DB2E524-C166-42B3-8561-7F6456D6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추진전략 및 방법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B3D28B9A-028C-4961-B534-C7880AAF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499D27C6-1DB1-4F0C-AF56-17C68A60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04</a:t>
            </a:r>
          </a:p>
        </p:txBody>
      </p:sp>
      <p:sp>
        <p:nvSpPr>
          <p:cNvPr id="15" name="팀 구성 및 추진 일정">
            <a:extLst xmlns:a="http://schemas.openxmlformats.org/drawingml/2006/main">
              <a:ext uri="{FF2B5EF4-FFF2-40B4-BE49-F238E27FC236}">
                <a16:creationId xmlns:a16="http://schemas.microsoft.com/office/drawing/2014/main" id="{02C4E0BB-6196-45B9-B407-B5D55F12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292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1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팀 구성 및 추진 일정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B601EF46-E68D-409A-AAF5-5BF683E8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3656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1  연구개발의 배경 및 필요성">
            <a:extLst xmlns:a="http://schemas.openxmlformats.org/drawingml/2006/main">
              <a:ext uri="{FF2B5EF4-FFF2-40B4-BE49-F238E27FC236}">
                <a16:creationId xmlns:a16="http://schemas.microsoft.com/office/drawing/2014/main" id="{005F6997-8F00-42E7-8B32-39C1920D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01  연구개발의 배경 및 필요성</a:t>
            </a:r>
          </a:p>
        </p:txBody>
      </p:sp>
      <p:sp>
        <p:nvSpPr>
          <p:cNvPr id="2" name="확정한 문제 정의문">
            <a:extLst xmlns:a="http://schemas.openxmlformats.org/drawingml/2006/main">
              <a:ext uri="{FF2B5EF4-FFF2-40B4-BE49-F238E27FC236}">
                <a16:creationId xmlns:a16="http://schemas.microsoft.com/office/drawing/2014/main" id="{2CEA4624-4806-425B-8500-D77173CD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확정한 문제 정의문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6273D14F-57FD-4A6D-A96E-5F878E97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0E8B7C95-B5FA-4B52-85B3-C8E85DE8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03</a:t>
            </a:r>
          </a:p>
        </p:txBody>
      </p:sp>
      <p:sp>
        <p:nvSpPr>
          <p:cNvPr id="5" name="HMW">
            <a:extLst xmlns:a="http://schemas.openxmlformats.org/drawingml/2006/main">
              <a:ext uri="{FF2B5EF4-FFF2-40B4-BE49-F238E27FC236}">
                <a16:creationId xmlns:a16="http://schemas.microsoft.com/office/drawing/2014/main" id="{46C06278-F72E-4215-9D64-B6F2A5F0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HMW</a:t>
            </a:r>
          </a:p>
        </p:txBody>
      </p:sp>
      <p:sp>
        <p:nvSpPr>
          <p:cNvPr id="6" name="어떻게 하면 전문 기자재 쇼핑몰 상담원이 고">
            <a:extLst xmlns:a="http://schemas.openxmlformats.org/drawingml/2006/main">
              <a:ext uri="{FF2B5EF4-FFF2-40B4-BE49-F238E27FC236}">
                <a16:creationId xmlns:a16="http://schemas.microsoft.com/office/drawing/2014/main" id="{7A3D31AD-50C3-44F3-BF1C-216683E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3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3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어떻게 하면 전문 기자재 쇼핑몰 상담원이 고객 문의를 받은 뒤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3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3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필요한 상품·자료와 부족한 정보를 빠르게 확인하고,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3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3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최종 판단은 직접 유지하면서 한 건의 문의를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3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3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더 짧은 시간에 정확하게 처리할 수 있을까?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62D9E36F-1550-4D4B-AEFA-766AD3E3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대상: 연구용 기자재 쇼핑몰 상담원·운영자">
            <a:extLst xmlns:a="http://schemas.openxmlformats.org/drawingml/2006/main">
              <a:ext uri="{FF2B5EF4-FFF2-40B4-BE49-F238E27FC236}">
                <a16:creationId xmlns:a16="http://schemas.microsoft.com/office/drawing/2014/main" id="{510699B7-78DB-4CA6-8295-FE968F2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대상: 연구용 기자재 쇼핑몰 상담원·운영자</a:t>
            </a:r>
          </a:p>
        </p:txBody>
      </p:sp>
    </p:spTree>
    <p:extLst>
      <p:ext uri="{BB962C8B-B14F-4D97-AF65-F5344CB8AC3E}">
        <p14:creationId xmlns:p14="http://schemas.microsoft.com/office/powerpoint/2010/main" val="308998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1  연구개발의 배경 및 필요성">
            <a:extLst xmlns:a="http://schemas.openxmlformats.org/drawingml/2006/main">
              <a:ext uri="{FF2B5EF4-FFF2-40B4-BE49-F238E27FC236}">
                <a16:creationId xmlns:a16="http://schemas.microsoft.com/office/drawing/2014/main" id="{C413F11A-AF43-4BE2-AD1F-A84D01DD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01  연구개발의 배경 및 필요성</a:t>
            </a:r>
          </a:p>
        </p:txBody>
      </p:sp>
      <p:sp>
        <p:nvSpPr>
          <p:cNvPr id="2" name="상담원의 반복 업무와 고충">
            <a:extLst xmlns:a="http://schemas.openxmlformats.org/drawingml/2006/main">
              <a:ext uri="{FF2B5EF4-FFF2-40B4-BE49-F238E27FC236}">
                <a16:creationId xmlns:a16="http://schemas.microsoft.com/office/drawing/2014/main" id="{80E7C4B6-C620-4294-AE8E-5E6594AC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상담원의 반복 업무와 고충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044A6F3C-C74E-412A-A3FF-28B25192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8F3B1960-6466-4C64-95DD-32B1117F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04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FB3D0188-FB87-4D87-8988-93A837CA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6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01</a:t>
            </a:r>
          </a:p>
        </p:txBody>
      </p:sp>
      <p:sp>
        <p:nvSpPr>
          <p:cNvPr id="6" name="문의 해석">
            <a:extLst xmlns:a="http://schemas.openxmlformats.org/drawingml/2006/main">
              <a:ext uri="{FF2B5EF4-FFF2-40B4-BE49-F238E27FC236}">
                <a16:creationId xmlns:a16="http://schemas.microsoft.com/office/drawing/2014/main" id="{3FE46524-33E7-4D88-B1CB-6EAA611A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문의 해석</a:t>
            </a:r>
          </a:p>
        </p:txBody>
      </p:sp>
      <p:sp>
        <p:nvSpPr>
          <p:cNvPr id="7" name="긴 비정형 문의에서 상품명·규격·수량·요청사">
            <a:extLst xmlns:a="http://schemas.openxmlformats.org/drawingml/2006/main">
              <a:ext uri="{FF2B5EF4-FFF2-40B4-BE49-F238E27FC236}">
                <a16:creationId xmlns:a16="http://schemas.microsoft.com/office/drawing/2014/main" id="{52DE3760-68B9-40CF-A205-75DD9D0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47875"/>
            <a:ext cx="6781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긴 비정형 문의에서 상품명·규격·수량·요청사항을 직접 정리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747C0903-86A4-42A8-81BD-23A23AD7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4FA15313-57AE-4D4B-AA7F-C2E874F8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66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02</a:t>
            </a:r>
          </a:p>
        </p:txBody>
      </p:sp>
      <p:sp>
        <p:nvSpPr>
          <p:cNvPr id="10" name="정보 탐색">
            <a:extLst xmlns:a="http://schemas.openxmlformats.org/drawingml/2006/main">
              <a:ext uri="{FF2B5EF4-FFF2-40B4-BE49-F238E27FC236}">
                <a16:creationId xmlns:a16="http://schemas.microsoft.com/office/drawing/2014/main" id="{0580D2A9-F7D9-462F-A4E6-6880FE1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정보 탐색</a:t>
            </a:r>
          </a:p>
        </p:txBody>
      </p:sp>
      <p:sp>
        <p:nvSpPr>
          <p:cNvPr id="11" name="재고·납기·견적·규격서를 여러 화면과 공급사">
            <a:extLst xmlns:a="http://schemas.openxmlformats.org/drawingml/2006/main">
              <a:ext uri="{FF2B5EF4-FFF2-40B4-BE49-F238E27FC236}">
                <a16:creationId xmlns:a16="http://schemas.microsoft.com/office/drawing/2014/main" id="{A997BDA0-5B3F-467B-887E-2BBD850A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67050"/>
            <a:ext cx="6781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재고·납기·견적·규격서를 여러 화면과 공급사에서 확인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3AA66FDB-BDE0-4D30-9C4C-1D94AD0D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959C0F8E-3997-46E7-A772-F70447B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66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5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03</a:t>
            </a:r>
          </a:p>
        </p:txBody>
      </p:sp>
      <p:sp>
        <p:nvSpPr>
          <p:cNvPr id="14" name="답변 작성">
            <a:extLst xmlns:a="http://schemas.openxmlformats.org/drawingml/2006/main">
              <a:ext uri="{FF2B5EF4-FFF2-40B4-BE49-F238E27FC236}">
                <a16:creationId xmlns:a16="http://schemas.microsoft.com/office/drawing/2014/main" id="{4BED1D1D-5992-4E0E-9349-628E341F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86225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답변 작성</a:t>
            </a:r>
          </a:p>
        </p:txBody>
      </p:sp>
      <p:sp>
        <p:nvSpPr>
          <p:cNvPr id="15" name="반복 문의도 새로 작성하고 불확실한 내용은 ">
            <a:extLst xmlns:a="http://schemas.openxmlformats.org/drawingml/2006/main">
              <a:ext uri="{FF2B5EF4-FFF2-40B4-BE49-F238E27FC236}">
                <a16:creationId xmlns:a16="http://schemas.microsoft.com/office/drawing/2014/main" id="{F1E7A261-5D36-420A-AD6F-1FC289EE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86225"/>
            <a:ext cx="6781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반복 문의도 새로 작성하고 불확실한 내용은 직접 검토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872E1B41-93B9-4BA1-9C63-8470F982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원하는 변화">
            <a:extLst xmlns:a="http://schemas.openxmlformats.org/drawingml/2006/main">
              <a:ext uri="{FF2B5EF4-FFF2-40B4-BE49-F238E27FC236}">
                <a16:creationId xmlns:a16="http://schemas.microsoft.com/office/drawing/2014/main" id="{C8E6668F-7B7B-401E-87D9-3E9877C8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원하는 변화</a:t>
            </a:r>
          </a:p>
        </p:txBody>
      </p:sp>
      <p:sp>
        <p:nvSpPr>
          <p:cNvPr id="18" name="문의 핵심, 누락 정보, 상품·자료 후보와 ">
            <a:extLst xmlns:a="http://schemas.openxmlformats.org/drawingml/2006/main">
              <a:ext uri="{FF2B5EF4-FFF2-40B4-BE49-F238E27FC236}">
                <a16:creationId xmlns:a16="http://schemas.microsoft.com/office/drawing/2014/main" id="{75623108-6DF5-4AFD-964C-0A10D7A6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29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65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문의 핵심, 누락 정보, 상품·자료 후보와 근거를 한 화면에서 확인</a:t>
            </a:r>
          </a:p>
        </p:txBody>
      </p:sp>
    </p:spTree>
    <p:extLst>
      <p:ext uri="{BB962C8B-B14F-4D97-AF65-F5344CB8AC3E}">
        <p14:creationId xmlns:p14="http://schemas.microsoft.com/office/powerpoint/2010/main" val="1125767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01  연구개발의 배경 및 필요성">
            <a:extLst xmlns:a="http://schemas.openxmlformats.org/drawingml/2006/main">
              <a:ext uri="{FF2B5EF4-FFF2-40B4-BE49-F238E27FC236}">
                <a16:creationId xmlns:a16="http://schemas.microsoft.com/office/drawing/2014/main" id="{F088CB7F-105D-4185-9409-8B1654EE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01  연구개발의 배경 및 필요성</a:t>
            </a:r>
          </a:p>
        </p:txBody>
      </p:sp>
      <p:sp>
        <p:nvSpPr>
          <p:cNvPr id="2" name="기존 솔루션과 남은 설계 과제">
            <a:extLst xmlns:a="http://schemas.openxmlformats.org/drawingml/2006/main">
              <a:ext uri="{FF2B5EF4-FFF2-40B4-BE49-F238E27FC236}">
                <a16:creationId xmlns:a16="http://schemas.microsoft.com/office/drawing/2014/main" id="{B707ED00-C91B-4661-8C0B-2D48F872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기존 솔루션과 남은 설계 과제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11E24C9C-44BE-43A2-AA09-1B29762D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2D2DF971-C67A-4FD0-8DA6-489F5BB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05</a:t>
            </a:r>
          </a:p>
        </p:txBody>
      </p:sp>
      <p:sp>
        <p:nvSpPr>
          <p:cNvPr id="5" name="사례">
            <a:extLst xmlns:a="http://schemas.openxmlformats.org/drawingml/2006/main">
              <a:ext uri="{FF2B5EF4-FFF2-40B4-BE49-F238E27FC236}">
                <a16:creationId xmlns:a16="http://schemas.microsoft.com/office/drawing/2014/main" id="{76E81BCF-2B06-4D31-A906-FDDC72A3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사례</a:t>
            </a:r>
          </a:p>
        </p:txBody>
      </p:sp>
      <p:sp>
        <p:nvSpPr>
          <p:cNvPr id="6" name="제공 기능">
            <a:extLst xmlns:a="http://schemas.openxmlformats.org/drawingml/2006/main">
              <a:ext uri="{FF2B5EF4-FFF2-40B4-BE49-F238E27FC236}">
                <a16:creationId xmlns:a16="http://schemas.microsoft.com/office/drawing/2014/main" id="{7A51D7ED-A0C2-4034-82B5-19DBEF95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383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제공 기능</a:t>
            </a:r>
          </a:p>
        </p:txBody>
      </p:sp>
      <p:sp>
        <p:nvSpPr>
          <p:cNvPr id="7" name="이 과제에서 설계할 부분">
            <a:extLst xmlns:a="http://schemas.openxmlformats.org/drawingml/2006/main">
              <a:ext uri="{FF2B5EF4-FFF2-40B4-BE49-F238E27FC236}">
                <a16:creationId xmlns:a16="http://schemas.microsoft.com/office/drawing/2014/main" id="{52BB7BDE-D1A6-4D09-9287-37B5F5E3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383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이 과제에서 설계할 부분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749CE1EA-62EA-4A94-9202-F07E23B6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AVER Cloud">
            <a:extLst xmlns:a="http://schemas.openxmlformats.org/drawingml/2006/main">
              <a:ext uri="{FF2B5EF4-FFF2-40B4-BE49-F238E27FC236}">
                <a16:creationId xmlns:a16="http://schemas.microsoft.com/office/drawing/2014/main" id="{07ACDEE5-77CC-4E81-9304-444309A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NAVER Cloud</a:t>
            </a:r>
          </a:p>
        </p:txBody>
      </p:sp>
      <p:sp>
        <p:nvSpPr>
          <p:cNvPr id="10" name="기업 데이터 결합형 AI 플랫폼">
            <a:extLst xmlns:a="http://schemas.openxmlformats.org/drawingml/2006/main">
              <a:ext uri="{FF2B5EF4-FFF2-40B4-BE49-F238E27FC236}">
                <a16:creationId xmlns:a16="http://schemas.microsoft.com/office/drawing/2014/main" id="{5B350444-A5EE-4B00-878C-0DC211BE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71725"/>
            <a:ext cx="376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기업 데이터 결합형 AI 플랫폼</a:t>
            </a:r>
          </a:p>
        </p:txBody>
      </p:sp>
      <p:sp>
        <p:nvSpPr>
          <p:cNvPr id="11" name="기자재 문의 절차와 승인 흐름 설계">
            <a:extLst xmlns:a="http://schemas.openxmlformats.org/drawingml/2006/main">
              <a:ext uri="{FF2B5EF4-FFF2-40B4-BE49-F238E27FC236}">
                <a16:creationId xmlns:a16="http://schemas.microsoft.com/office/drawing/2014/main" id="{FAC16BB1-0B9E-4FEC-A4EC-75B374A6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717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기자재 문의 절차와 승인 흐름 설계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B5B372CE-C36F-4CEE-B47E-F4351E10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tercom Fin">
            <a:extLst xmlns:a="http://schemas.openxmlformats.org/drawingml/2006/main">
              <a:ext uri="{FF2B5EF4-FFF2-40B4-BE49-F238E27FC236}">
                <a16:creationId xmlns:a16="http://schemas.microsoft.com/office/drawing/2014/main" id="{AD25B0B0-53B6-46F4-81A0-CE2E9688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Intercom Fin</a:t>
            </a:r>
          </a:p>
        </p:txBody>
      </p:sp>
      <p:sp>
        <p:nvSpPr>
          <p:cNvPr id="14" name="검색 기반 고객지원·상담원 이관">
            <a:extLst xmlns:a="http://schemas.openxmlformats.org/drawingml/2006/main">
              <a:ext uri="{FF2B5EF4-FFF2-40B4-BE49-F238E27FC236}">
                <a16:creationId xmlns:a16="http://schemas.microsoft.com/office/drawing/2014/main" id="{3DFA2CDB-6300-4F26-8E2C-3A6B66BA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376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검색 기반 고객지원·상담원 이관</a:t>
            </a:r>
          </a:p>
        </p:txBody>
      </p:sp>
      <p:sp>
        <p:nvSpPr>
          <p:cNvPr id="15" name="규격·견적·재고 확인 업무의 연결">
            <a:extLst xmlns:a="http://schemas.openxmlformats.org/drawingml/2006/main">
              <a:ext uri="{FF2B5EF4-FFF2-40B4-BE49-F238E27FC236}">
                <a16:creationId xmlns:a16="http://schemas.microsoft.com/office/drawing/2014/main" id="{CE77BE57-03F3-46B4-B994-2C739999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규격·견적·재고 확인 업무의 연결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8153C1AB-3B74-46A2-83E6-B62F6718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isher Scientific">
            <a:extLst xmlns:a="http://schemas.openxmlformats.org/drawingml/2006/main">
              <a:ext uri="{FF2B5EF4-FFF2-40B4-BE49-F238E27FC236}">
                <a16:creationId xmlns:a16="http://schemas.microsoft.com/office/drawing/2014/main" id="{76297904-17B4-45B7-BB4F-2FE670D2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Fisher Scientific</a:t>
            </a:r>
          </a:p>
        </p:txBody>
      </p:sp>
      <p:sp>
        <p:nvSpPr>
          <p:cNvPr id="18" name="상품·문서 검색과 웹 견적 제공">
            <a:extLst xmlns:a="http://schemas.openxmlformats.org/drawingml/2006/main">
              <a:ext uri="{FF2B5EF4-FFF2-40B4-BE49-F238E27FC236}">
                <a16:creationId xmlns:a16="http://schemas.microsoft.com/office/drawing/2014/main" id="{706A773B-8D05-421F-BC7D-7BB97F90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376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상품·문서 검색과 웹 견적 제공</a:t>
            </a:r>
          </a:p>
        </p:txBody>
      </p:sp>
      <p:sp>
        <p:nvSpPr>
          <p:cNvPr id="19" name="복합 문의를 한 번에 구조화·검토">
            <a:extLst xmlns:a="http://schemas.openxmlformats.org/drawingml/2006/main">
              <a:ext uri="{FF2B5EF4-FFF2-40B4-BE49-F238E27FC236}">
                <a16:creationId xmlns:a16="http://schemas.microsoft.com/office/drawing/2014/main" id="{A035605C-9A74-4FCC-8A7D-A3D0E912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복합 문의를 한 번에 구조화·검토</a:t>
            </a:r>
          </a:p>
        </p:txBody>
      </p:sp>
      <p:sp>
        <p:nvSpPr>
          <p:cNvPr id="20" name="divider">
            <a:extLst xmlns:a="http://schemas.openxmlformats.org/drawingml/2006/main">
              <a:ext uri="{FF2B5EF4-FFF2-40B4-BE49-F238E27FC236}">
                <a16:creationId xmlns:a16="http://schemas.microsoft.com/office/drawing/2014/main" id="{DCD4AA02-494B-46C4-9FAC-E8033A05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G 고객지원 연구">
            <a:extLst xmlns:a="http://schemas.openxmlformats.org/drawingml/2006/main">
              <a:ext uri="{FF2B5EF4-FFF2-40B4-BE49-F238E27FC236}">
                <a16:creationId xmlns:a16="http://schemas.microsoft.com/office/drawing/2014/main" id="{88CBADBA-7EBE-4789-847D-78D00F4C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RAG 고객지원 연구</a:t>
            </a:r>
          </a:p>
        </p:txBody>
      </p:sp>
      <p:sp>
        <p:nvSpPr>
          <p:cNvPr id="22" name="검색 근거를 활용한 답변 생성">
            <a:extLst xmlns:a="http://schemas.openxmlformats.org/drawingml/2006/main">
              <a:ext uri="{FF2B5EF4-FFF2-40B4-BE49-F238E27FC236}">
                <a16:creationId xmlns:a16="http://schemas.microsoft.com/office/drawing/2014/main" id="{11C51708-B267-4AC9-B2D1-FE0110D6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376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검색 근거를 활용한 답변 생성</a:t>
            </a:r>
          </a:p>
        </p:txBody>
      </p:sp>
      <p:sp>
        <p:nvSpPr>
          <p:cNvPr id="23" name="누락 확인과 사람의 최종 승인">
            <a:extLst xmlns:a="http://schemas.openxmlformats.org/drawingml/2006/main">
              <a:ext uri="{FF2B5EF4-FFF2-40B4-BE49-F238E27FC236}">
                <a16:creationId xmlns:a16="http://schemas.microsoft.com/office/drawing/2014/main" id="{91B2E008-56FA-4CDE-B6B8-59360D07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292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누락 확인과 사람의 최종 승인</a:t>
            </a:r>
          </a:p>
        </p:txBody>
      </p:sp>
      <p:sp>
        <p:nvSpPr>
          <p:cNvPr id="24" name="divider">
            <a:extLst xmlns:a="http://schemas.openxmlformats.org/drawingml/2006/main">
              <a:ext uri="{FF2B5EF4-FFF2-40B4-BE49-F238E27FC236}">
                <a16:creationId xmlns:a16="http://schemas.microsoft.com/office/drawing/2014/main" id="{D9F84C91-3546-47F3-BB4A-0DBFB182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711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01  연구개발의 배경 및 필요성">
            <a:extLst xmlns:a="http://schemas.openxmlformats.org/drawingml/2006/main">
              <a:ext uri="{FF2B5EF4-FFF2-40B4-BE49-F238E27FC236}">
                <a16:creationId xmlns:a16="http://schemas.microsoft.com/office/drawing/2014/main" id="{101AE20A-3260-4583-8EE2-CDF8D851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01  연구개발의 배경 및 필요성</a:t>
            </a:r>
          </a:p>
        </p:txBody>
      </p:sp>
      <p:sp>
        <p:nvSpPr>
          <p:cNvPr id="2" name="문의 처리에서 AI가 지원할 구간">
            <a:extLst xmlns:a="http://schemas.openxmlformats.org/drawingml/2006/main">
              <a:ext uri="{FF2B5EF4-FFF2-40B4-BE49-F238E27FC236}">
                <a16:creationId xmlns:a16="http://schemas.microsoft.com/office/drawing/2014/main" id="{D619B66C-DE1A-4991-AF85-5B9F2855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문의 처리에서 AI가 지원할 구간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9E6316F7-34CF-4E56-AC13-6954DA82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71648252-E02E-4D1C-9B2C-5BDC4C3A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06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ACE89D24-0140-40E2-8145-3B981516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764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01</a:t>
            </a:r>
          </a:p>
        </p:txBody>
      </p:sp>
      <p:sp>
        <p:nvSpPr>
          <p:cNvPr id="6" name="문의 분석">
            <a:extLst xmlns:a="http://schemas.openxmlformats.org/drawingml/2006/main">
              <a:ext uri="{FF2B5EF4-FFF2-40B4-BE49-F238E27FC236}">
                <a16:creationId xmlns:a16="http://schemas.microsoft.com/office/drawing/2014/main" id="{3BACA0BD-BB1A-4447-8ED4-0C34DD8E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146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문의 분석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8675D150-EF7A-4A9C-9861-A49360E3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24250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의도와 핵심 정보 정리">
            <a:extLst xmlns:a="http://schemas.openxmlformats.org/drawingml/2006/main">
              <a:ext uri="{FF2B5EF4-FFF2-40B4-BE49-F238E27FC236}">
                <a16:creationId xmlns:a16="http://schemas.microsoft.com/office/drawing/2014/main" id="{CC0026FB-C1A4-4154-850F-7AAA4CFE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338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의도와 핵심 정보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6A174-00CC-4F8C-AF68-C52F0B4C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B33459B2-D9DC-4C54-AC4C-BE95399D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764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02</a:t>
            </a:r>
          </a:p>
        </p:txBody>
      </p:sp>
      <p:sp>
        <p:nvSpPr>
          <p:cNvPr id="11" name="누락 확인">
            <a:extLst xmlns:a="http://schemas.openxmlformats.org/drawingml/2006/main">
              <a:ext uri="{FF2B5EF4-FFF2-40B4-BE49-F238E27FC236}">
                <a16:creationId xmlns:a16="http://schemas.microsoft.com/office/drawing/2014/main" id="{931A49B9-D1A4-472E-92AF-F6426191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146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누락 확인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5027DAA7-76E2-4D53-BA58-3F544609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524250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추가 질문 제안">
            <a:extLst xmlns:a="http://schemas.openxmlformats.org/drawingml/2006/main">
              <a:ext uri="{FF2B5EF4-FFF2-40B4-BE49-F238E27FC236}">
                <a16:creationId xmlns:a16="http://schemas.microsoft.com/office/drawing/2014/main" id="{15CB1AAC-642B-4808-94D2-BA6ACA6B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338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추가 질문 제안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20868-89FD-42C8-A5E4-8AF9F973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437AF203-F778-4395-B77E-A48B35CA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764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03</a:t>
            </a:r>
          </a:p>
        </p:txBody>
      </p:sp>
      <p:sp>
        <p:nvSpPr>
          <p:cNvPr id="16" name="상품·자료 검색">
            <a:extLst xmlns:a="http://schemas.openxmlformats.org/drawingml/2006/main">
              <a:ext uri="{FF2B5EF4-FFF2-40B4-BE49-F238E27FC236}">
                <a16:creationId xmlns:a16="http://schemas.microsoft.com/office/drawing/2014/main" id="{1074FBB1-0D53-4F27-8DCB-46C22E7C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146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상품·자료 검색</a:t>
            </a:r>
          </a:p>
        </p:txBody>
      </p:sp>
      <p:sp>
        <p:nvSpPr>
          <p:cNvPr id="17" name="divider">
            <a:extLst xmlns:a="http://schemas.openxmlformats.org/drawingml/2006/main">
              <a:ext uri="{FF2B5EF4-FFF2-40B4-BE49-F238E27FC236}">
                <a16:creationId xmlns:a16="http://schemas.microsoft.com/office/drawing/2014/main" id="{90CAC6C6-0AE5-43C5-912B-4E5CB6A7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24250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후보와 출처 제시">
            <a:extLst xmlns:a="http://schemas.openxmlformats.org/drawingml/2006/main">
              <a:ext uri="{FF2B5EF4-FFF2-40B4-BE49-F238E27FC236}">
                <a16:creationId xmlns:a16="http://schemas.microsoft.com/office/drawing/2014/main" id="{93EC1B00-0BA1-4812-B21E-C54B2472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338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후보와 출처 제시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D7390-C546-44B2-AD59-D35CC67D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04">
            <a:extLst xmlns:a="http://schemas.openxmlformats.org/drawingml/2006/main">
              <a:ext uri="{FF2B5EF4-FFF2-40B4-BE49-F238E27FC236}">
                <a16:creationId xmlns:a16="http://schemas.microsoft.com/office/drawing/2014/main" id="{CF699E43-5754-46BF-9656-5B70FB11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764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04</a:t>
            </a:r>
          </a:p>
        </p:txBody>
      </p:sp>
      <p:sp>
        <p:nvSpPr>
          <p:cNvPr id="21" name="근거 초안">
            <a:extLst xmlns:a="http://schemas.openxmlformats.org/drawingml/2006/main">
              <a:ext uri="{FF2B5EF4-FFF2-40B4-BE49-F238E27FC236}">
                <a16:creationId xmlns:a16="http://schemas.microsoft.com/office/drawing/2014/main" id="{7895F568-CDDF-4376-BC83-12A138BE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146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근거 초안</a:t>
            </a:r>
          </a:p>
        </p:txBody>
      </p:sp>
      <p:sp>
        <p:nvSpPr>
          <p:cNvPr id="22" name="divider">
            <a:extLst xmlns:a="http://schemas.openxmlformats.org/drawingml/2006/main">
              <a:ext uri="{FF2B5EF4-FFF2-40B4-BE49-F238E27FC236}">
                <a16:creationId xmlns:a16="http://schemas.microsoft.com/office/drawing/2014/main" id="{38A048D4-87F7-4098-998E-1ADA8FD7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24250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확인 필요 항목 표시">
            <a:extLst xmlns:a="http://schemas.openxmlformats.org/drawingml/2006/main">
              <a:ext uri="{FF2B5EF4-FFF2-40B4-BE49-F238E27FC236}">
                <a16:creationId xmlns:a16="http://schemas.microsoft.com/office/drawing/2014/main" id="{DA972DE2-B326-49B8-A6CA-3437D691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338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확인 필요 항목 표시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F98BB-407F-48C9-AEF3-98ACA6EB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05">
            <a:extLst xmlns:a="http://schemas.openxmlformats.org/drawingml/2006/main">
              <a:ext uri="{FF2B5EF4-FFF2-40B4-BE49-F238E27FC236}">
                <a16:creationId xmlns:a16="http://schemas.microsoft.com/office/drawing/2014/main" id="{99A3371E-3040-4A0E-805E-538BF017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2764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2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05</a:t>
            </a:r>
          </a:p>
        </p:txBody>
      </p:sp>
      <p:sp>
        <p:nvSpPr>
          <p:cNvPr id="26" name="상담원 승인">
            <a:extLst xmlns:a="http://schemas.openxmlformats.org/drawingml/2006/main">
              <a:ext uri="{FF2B5EF4-FFF2-40B4-BE49-F238E27FC236}">
                <a16:creationId xmlns:a16="http://schemas.microsoft.com/office/drawing/2014/main" id="{698E3C2C-D13C-48B2-8019-F9A4EF57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9146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상담원 승인</a:t>
            </a:r>
          </a:p>
        </p:txBody>
      </p:sp>
      <p:sp>
        <p:nvSpPr>
          <p:cNvPr id="27" name="divider">
            <a:extLst xmlns:a="http://schemas.openxmlformats.org/drawingml/2006/main">
              <a:ext uri="{FF2B5EF4-FFF2-40B4-BE49-F238E27FC236}">
                <a16:creationId xmlns:a16="http://schemas.microsoft.com/office/drawing/2014/main" id="{B455F0A2-FA47-4C75-9C74-1A0F7790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524250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수정 후 최종 전송">
            <a:extLst xmlns:a="http://schemas.openxmlformats.org/drawingml/2006/main">
              <a:ext uri="{FF2B5EF4-FFF2-40B4-BE49-F238E27FC236}">
                <a16:creationId xmlns:a16="http://schemas.microsoft.com/office/drawing/2014/main" id="{79D01EED-CE4A-4264-8303-D832807C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7338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수정 후 최종 전송</a:t>
            </a:r>
          </a:p>
        </p:txBody>
      </p:sp>
      <p:sp>
        <p:nvSpPr>
          <p:cNvPr id="29" name="divider">
            <a:extLst xmlns:a="http://schemas.openxmlformats.org/drawingml/2006/main">
              <a:ext uri="{FF2B5EF4-FFF2-40B4-BE49-F238E27FC236}">
                <a16:creationId xmlns:a16="http://schemas.microsoft.com/office/drawing/2014/main" id="{407491C8-20F5-4862-A74F-D21DDF54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재고·납기·견적의 확정 판단은 상담원이 담당">
            <a:extLst xmlns:a="http://schemas.openxmlformats.org/drawingml/2006/main">
              <a:ext uri="{FF2B5EF4-FFF2-40B4-BE49-F238E27FC236}">
                <a16:creationId xmlns:a16="http://schemas.microsoft.com/office/drawing/2014/main" id="{2DC287FA-4271-44E4-A715-99ED1B93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재고·납기·견적의 확정 판단은 상담원이 담당</a:t>
            </a:r>
          </a:p>
        </p:txBody>
      </p:sp>
    </p:spTree>
    <p:extLst>
      <p:ext uri="{BB962C8B-B14F-4D97-AF65-F5344CB8AC3E}">
        <p14:creationId xmlns:p14="http://schemas.microsoft.com/office/powerpoint/2010/main" val="8940463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2  연구개발의 목표 및 내용">
            <a:extLst xmlns:a="http://schemas.openxmlformats.org/drawingml/2006/main">
              <a:ext uri="{FF2B5EF4-FFF2-40B4-BE49-F238E27FC236}">
                <a16:creationId xmlns:a16="http://schemas.microsoft.com/office/drawing/2014/main" id="{40F9F3CC-B61C-424A-AA53-EF0AD693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02  연구개발의 목표 및 내용</a:t>
            </a:r>
          </a:p>
        </p:txBody>
      </p:sp>
      <p:sp>
        <p:nvSpPr>
          <p:cNvPr id="2" name="상담원 지원 AI 에이전트의 목표">
            <a:extLst xmlns:a="http://schemas.openxmlformats.org/drawingml/2006/main">
              <a:ext uri="{FF2B5EF4-FFF2-40B4-BE49-F238E27FC236}">
                <a16:creationId xmlns:a16="http://schemas.microsoft.com/office/drawing/2014/main" id="{D0DEA4CE-1776-4B73-83EF-4EE557C3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상담원 지원 AI 에이전트의 목표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3E2632DC-4CAC-41DF-A743-EF0F593D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5CE51608-D26C-4742-A787-A2D65360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07</a:t>
            </a:r>
          </a:p>
        </p:txBody>
      </p:sp>
      <p:sp>
        <p:nvSpPr>
          <p:cNvPr id="5" name="문의 핵심과 근거를 빠르게 확인하고&#10;답변 초">
            <a:extLst xmlns:a="http://schemas.openxmlformats.org/drawingml/2006/main">
              <a:ext uri="{FF2B5EF4-FFF2-40B4-BE49-F238E27FC236}">
                <a16:creationId xmlns:a16="http://schemas.microsoft.com/office/drawing/2014/main" id="{0E32678C-1B78-4509-8915-6163E624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25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문의 핵심과 근거를 빠르게 확인하고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25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답변 초안을 수정·승인하는 상담원 지원 도구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A6740F1D-424A-4414-AD9C-DEFF7D2F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  필요">
            <a:extLst xmlns:a="http://schemas.openxmlformats.org/drawingml/2006/main">
              <a:ext uri="{FF2B5EF4-FFF2-40B4-BE49-F238E27FC236}">
                <a16:creationId xmlns:a16="http://schemas.microsoft.com/office/drawing/2014/main" id="{8BCC2807-1BFA-48E8-B5B9-DA05BF7F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N  필요</a:t>
            </a:r>
          </a:p>
        </p:txBody>
      </p:sp>
      <p:sp>
        <p:nvSpPr>
          <p:cNvPr id="8" name="반복 탐색·정리 시간 감소&#10;실시간 정보는 상">
            <a:extLst xmlns:a="http://schemas.openxmlformats.org/drawingml/2006/main">
              <a:ext uri="{FF2B5EF4-FFF2-40B4-BE49-F238E27FC236}">
                <a16:creationId xmlns:a16="http://schemas.microsoft.com/office/drawing/2014/main" id="{51D26B75-83AE-47AA-A306-8D591A6C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반복 탐색·정리 시간 감소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실시간 정보는 상담원 판단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19FB1729-49E6-4F69-9ED2-857CAEEA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  접근">
            <a:extLst xmlns:a="http://schemas.openxmlformats.org/drawingml/2006/main">
              <a:ext uri="{FF2B5EF4-FFF2-40B4-BE49-F238E27FC236}">
                <a16:creationId xmlns:a16="http://schemas.microsoft.com/office/drawing/2014/main" id="{87A9E62C-275D-4AB6-AE6F-7AF99401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A  접근</a:t>
            </a:r>
          </a:p>
        </p:txBody>
      </p:sp>
      <p:sp>
        <p:nvSpPr>
          <p:cNvPr id="11" name="구조화·누락 확인&#10;검색·근거 초안·승인">
            <a:extLst xmlns:a="http://schemas.openxmlformats.org/drawingml/2006/main">
              <a:ext uri="{FF2B5EF4-FFF2-40B4-BE49-F238E27FC236}">
                <a16:creationId xmlns:a16="http://schemas.microsoft.com/office/drawing/2014/main" id="{8AE2E946-6D4B-4164-87BA-B8AD793D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구조화·누락 확인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검색·근거 초안·승인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96F3DD0C-D1E0-49B0-BAD0-022A86A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33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  혜택">
            <a:extLst xmlns:a="http://schemas.openxmlformats.org/drawingml/2006/main">
              <a:ext uri="{FF2B5EF4-FFF2-40B4-BE49-F238E27FC236}">
                <a16:creationId xmlns:a16="http://schemas.microsoft.com/office/drawing/2014/main" id="{01D85FD0-2744-4C33-A8C3-227BB0F3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B  혜택</a:t>
            </a:r>
          </a:p>
        </p:txBody>
      </p:sp>
      <p:sp>
        <p:nvSpPr>
          <p:cNvPr id="14" name="고객 대기와 재질문 감소&#10;상담원 초안 작성 ">
            <a:extLst xmlns:a="http://schemas.openxmlformats.org/drawingml/2006/main">
              <a:ext uri="{FF2B5EF4-FFF2-40B4-BE49-F238E27FC236}">
                <a16:creationId xmlns:a16="http://schemas.microsoft.com/office/drawing/2014/main" id="{1F4A32DD-3382-4CB1-94E5-213AE217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고객 대기와 재질문 감소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상담원 초안 작성 시간 감소</a:t>
            </a:r>
          </a:p>
        </p:txBody>
      </p:sp>
      <p:sp>
        <p:nvSpPr>
          <p:cNvPr id="15" name="divider">
            <a:extLst xmlns:a="http://schemas.openxmlformats.org/drawingml/2006/main">
              <a:ext uri="{FF2B5EF4-FFF2-40B4-BE49-F238E27FC236}">
                <a16:creationId xmlns:a16="http://schemas.microsoft.com/office/drawing/2014/main" id="{B760EE41-5AA1-4281-825E-4C9476F7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  차별점">
            <a:extLst xmlns:a="http://schemas.openxmlformats.org/drawingml/2006/main">
              <a:ext uri="{FF2B5EF4-FFF2-40B4-BE49-F238E27FC236}">
                <a16:creationId xmlns:a16="http://schemas.microsoft.com/office/drawing/2014/main" id="{4B6F6B1C-7B28-4180-ADFC-64DA179E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C  차별점</a:t>
            </a:r>
          </a:p>
        </p:txBody>
      </p:sp>
      <p:sp>
        <p:nvSpPr>
          <p:cNvPr id="17" name="전문 구매 문의 흐름&#10;출처 표시와 사람의 최">
            <a:extLst xmlns:a="http://schemas.openxmlformats.org/drawingml/2006/main">
              <a:ext uri="{FF2B5EF4-FFF2-40B4-BE49-F238E27FC236}">
                <a16:creationId xmlns:a16="http://schemas.microsoft.com/office/drawing/2014/main" id="{4EC281B7-7BA1-40BB-922B-1902C89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3872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전문 구매 문의 흐름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출처 표시와 사람의 최종 승인</a:t>
            </a:r>
          </a:p>
        </p:txBody>
      </p:sp>
      <p:sp>
        <p:nvSpPr>
          <p:cNvPr id="18" name="divider">
            <a:extLst xmlns:a="http://schemas.openxmlformats.org/drawingml/2006/main">
              <a:ext uri="{FF2B5EF4-FFF2-40B4-BE49-F238E27FC236}">
                <a16:creationId xmlns:a16="http://schemas.microsoft.com/office/drawing/2014/main" id="{29173980-1F95-4C41-AADB-95A8E845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245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20864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02  연구개발의 목표 및 내용">
            <a:extLst xmlns:a="http://schemas.openxmlformats.org/drawingml/2006/main">
              <a:ext uri="{FF2B5EF4-FFF2-40B4-BE49-F238E27FC236}">
                <a16:creationId xmlns:a16="http://schemas.microsoft.com/office/drawing/2014/main" id="{550BCD5A-EEB9-4461-A39D-8443F0AE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02  연구개발의 목표 및 내용</a:t>
            </a:r>
          </a:p>
        </p:txBody>
      </p:sp>
      <p:sp>
        <p:nvSpPr>
          <p:cNvPr id="2" name="네 가지 코어 기능">
            <a:extLst xmlns:a="http://schemas.openxmlformats.org/drawingml/2006/main">
              <a:ext uri="{FF2B5EF4-FFF2-40B4-BE49-F238E27FC236}">
                <a16:creationId xmlns:a16="http://schemas.microsoft.com/office/drawing/2014/main" id="{9C9F24CF-38AD-4465-A850-0DD96C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네 가지 코어 기능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72EC13CD-2077-4116-8FDA-FC88746D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76697F83-18E2-4E42-8B8B-1D8B98CE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08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018087E7-EB05-4031-B7C0-44514CAC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01</a:t>
            </a:r>
          </a:p>
        </p:txBody>
      </p:sp>
      <p:sp>
        <p:nvSpPr>
          <p:cNvPr id="6" name="문의 자동 분석">
            <a:extLst xmlns:a="http://schemas.openxmlformats.org/drawingml/2006/main">
              <a:ext uri="{FF2B5EF4-FFF2-40B4-BE49-F238E27FC236}">
                <a16:creationId xmlns:a16="http://schemas.microsoft.com/office/drawing/2014/main" id="{268F423E-CE0F-45C5-B5F6-DB6A2567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574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문의 자동 분석</a:t>
            </a:r>
          </a:p>
        </p:txBody>
      </p:sp>
      <p:sp>
        <p:nvSpPr>
          <p:cNvPr id="7" name="1·2·3">
            <a:extLst xmlns:a="http://schemas.openxmlformats.org/drawingml/2006/main">
              <a:ext uri="{FF2B5EF4-FFF2-40B4-BE49-F238E27FC236}">
                <a16:creationId xmlns:a16="http://schemas.microsoft.com/office/drawing/2014/main" id="{C1E13818-A6CE-4582-9AB7-A17C5A8A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1·2·3</a:t>
            </a:r>
          </a:p>
        </p:txBody>
      </p:sp>
      <p:sp>
        <p:nvSpPr>
          <p:cNvPr id="8" name="관련 그룹 평균 4.4점">
            <a:extLst xmlns:a="http://schemas.openxmlformats.org/drawingml/2006/main">
              <a:ext uri="{FF2B5EF4-FFF2-40B4-BE49-F238E27FC236}">
                <a16:creationId xmlns:a16="http://schemas.microsoft.com/office/drawing/2014/main" id="{B23087FA-682F-4EA9-AEC1-CC9D74DD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574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관련 그룹 평균 4.4점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395DCBF9-22FC-4B09-A8A0-EFE7AA7E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E04A6E94-CFB7-42CC-A3A9-23053846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02</a:t>
            </a:r>
          </a:p>
        </p:txBody>
      </p:sp>
      <p:sp>
        <p:nvSpPr>
          <p:cNvPr id="11" name="누락 정보 확인">
            <a:extLst xmlns:a="http://schemas.openxmlformats.org/drawingml/2006/main">
              <a:ext uri="{FF2B5EF4-FFF2-40B4-BE49-F238E27FC236}">
                <a16:creationId xmlns:a16="http://schemas.microsoft.com/office/drawing/2014/main" id="{B3C1332B-C9EB-4E86-BC0E-6A471252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99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누락 정보 확인</a:t>
            </a:r>
          </a:p>
        </p:txBody>
      </p:sp>
      <p:sp>
        <p:nvSpPr>
          <p:cNvPr id="12" name="4·5">
            <a:extLst xmlns:a="http://schemas.openxmlformats.org/drawingml/2006/main">
              <a:ext uri="{FF2B5EF4-FFF2-40B4-BE49-F238E27FC236}">
                <a16:creationId xmlns:a16="http://schemas.microsoft.com/office/drawing/2014/main" id="{A6002525-15EA-4628-A4C9-CA8C09D3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4·5</a:t>
            </a:r>
          </a:p>
        </p:txBody>
      </p:sp>
      <p:sp>
        <p:nvSpPr>
          <p:cNvPr id="13" name="추가 질문 제안">
            <a:extLst xmlns:a="http://schemas.openxmlformats.org/drawingml/2006/main">
              <a:ext uri="{FF2B5EF4-FFF2-40B4-BE49-F238E27FC236}">
                <a16:creationId xmlns:a16="http://schemas.microsoft.com/office/drawing/2014/main" id="{8B7D8BD7-3F8E-49C3-AC02-52687548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추가 질문 제안</a:t>
            </a:r>
          </a:p>
        </p:txBody>
      </p:sp>
      <p:sp>
        <p:nvSpPr>
          <p:cNvPr id="14" name="divider">
            <a:extLst xmlns:a="http://schemas.openxmlformats.org/drawingml/2006/main">
              <a:ext uri="{FF2B5EF4-FFF2-40B4-BE49-F238E27FC236}">
                <a16:creationId xmlns:a16="http://schemas.microsoft.com/office/drawing/2014/main" id="{FA32D3DF-4553-4B3F-B428-9208ABD3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F4D4A6C0-E340-4160-B8CE-4E56CE7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03</a:t>
            </a:r>
          </a:p>
        </p:txBody>
      </p:sp>
      <p:sp>
        <p:nvSpPr>
          <p:cNvPr id="16" name="상품·자료 검색">
            <a:extLst xmlns:a="http://schemas.openxmlformats.org/drawingml/2006/main">
              <a:ext uri="{FF2B5EF4-FFF2-40B4-BE49-F238E27FC236}">
                <a16:creationId xmlns:a16="http://schemas.microsoft.com/office/drawing/2014/main" id="{09EBC49A-EF88-41B0-9043-81266A2D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624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상품·자료 검색</a:t>
            </a:r>
          </a:p>
        </p:txBody>
      </p:sp>
      <p:sp>
        <p:nvSpPr>
          <p:cNvPr id="17" name="6·7·8·9·10">
            <a:extLst xmlns:a="http://schemas.openxmlformats.org/drawingml/2006/main">
              <a:ext uri="{FF2B5EF4-FFF2-40B4-BE49-F238E27FC236}">
                <a16:creationId xmlns:a16="http://schemas.microsoft.com/office/drawing/2014/main" id="{37E9120D-2D1C-4650-896F-89575DD2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62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6·7·8·9·10</a:t>
            </a:r>
          </a:p>
        </p:txBody>
      </p:sp>
      <p:sp>
        <p:nvSpPr>
          <p:cNvPr id="18" name="관련 그룹 평균 4.6점">
            <a:extLst xmlns:a="http://schemas.openxmlformats.org/drawingml/2006/main">
              <a:ext uri="{FF2B5EF4-FFF2-40B4-BE49-F238E27FC236}">
                <a16:creationId xmlns:a16="http://schemas.microsoft.com/office/drawing/2014/main" id="{F1646CC3-5729-4A7E-B804-48FC613C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624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관련 그룹 평균 4.6점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9EFB0519-5AF3-4A2A-927B-C3208AB8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04">
            <a:extLst xmlns:a="http://schemas.openxmlformats.org/drawingml/2006/main">
              <a:ext uri="{FF2B5EF4-FFF2-40B4-BE49-F238E27FC236}">
                <a16:creationId xmlns:a16="http://schemas.microsoft.com/office/drawing/2014/main" id="{0EF2E5E1-DD05-4B0C-B7A4-351E57EA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04</a:t>
            </a:r>
          </a:p>
        </p:txBody>
      </p:sp>
      <p:sp>
        <p:nvSpPr>
          <p:cNvPr id="21" name="근거 초안 + 상담원 검토">
            <a:extLst xmlns:a="http://schemas.openxmlformats.org/drawingml/2006/main">
              <a:ext uri="{FF2B5EF4-FFF2-40B4-BE49-F238E27FC236}">
                <a16:creationId xmlns:a16="http://schemas.microsoft.com/office/drawing/2014/main" id="{2018A46F-E957-4842-9F91-D9899E47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149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근거 초안 + 상담원 검토</a:t>
            </a:r>
          </a:p>
        </p:txBody>
      </p:sp>
      <p:sp>
        <p:nvSpPr>
          <p:cNvPr id="22" name="11·12·13·14">
            <a:extLst xmlns:a="http://schemas.openxmlformats.org/drawingml/2006/main">
              <a:ext uri="{FF2B5EF4-FFF2-40B4-BE49-F238E27FC236}">
                <a16:creationId xmlns:a16="http://schemas.microsoft.com/office/drawing/2014/main" id="{1B69D946-B0E8-4640-8D03-8EEF827A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149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65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11·12·13·14</a:t>
            </a:r>
          </a:p>
        </p:txBody>
      </p:sp>
      <p:sp>
        <p:nvSpPr>
          <p:cNvPr id="23" name="관련 그룹 평균 4.5점">
            <a:extLst xmlns:a="http://schemas.openxmlformats.org/drawingml/2006/main">
              <a:ext uri="{FF2B5EF4-FFF2-40B4-BE49-F238E27FC236}">
                <a16:creationId xmlns:a16="http://schemas.microsoft.com/office/drawing/2014/main" id="{30CDECBE-153C-4D59-BE46-6D20768A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149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관련 그룹 평균 4.5점</a:t>
            </a:r>
          </a:p>
        </p:txBody>
      </p:sp>
      <p:sp>
        <p:nvSpPr>
          <p:cNvPr id="24" name="divider">
            <a:extLst xmlns:a="http://schemas.openxmlformats.org/drawingml/2006/main">
              <a:ext uri="{FF2B5EF4-FFF2-40B4-BE49-F238E27FC236}">
                <a16:creationId xmlns:a16="http://schemas.microsoft.com/office/drawing/2014/main" id="{7B314824-C6AC-4B90-9AB3-F0181E99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09636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02  연구개발의 목표 및 내용">
            <a:extLst xmlns:a="http://schemas.openxmlformats.org/drawingml/2006/main">
              <a:ext uri="{FF2B5EF4-FFF2-40B4-BE49-F238E27FC236}">
                <a16:creationId xmlns:a16="http://schemas.microsoft.com/office/drawing/2014/main" id="{86607248-F1D4-426A-875B-C91045DB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02  연구개발의 목표 및 내용</a:t>
            </a:r>
          </a:p>
        </p:txBody>
      </p:sp>
      <p:sp>
        <p:nvSpPr>
          <p:cNvPr id="2" name="문의 접수부터 상담원 승인까지">
            <a:extLst xmlns:a="http://schemas.openxmlformats.org/drawingml/2006/main">
              <a:ext uri="{FF2B5EF4-FFF2-40B4-BE49-F238E27FC236}">
                <a16:creationId xmlns:a16="http://schemas.microsoft.com/office/drawing/2014/main" id="{E1A8A964-F914-4BC7-9CE8-CDA4DCC2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문의 접수부터 상담원 승인까지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45F8F146-ABF7-48DF-8C0C-CA26757E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00948079-BCB9-4765-B2A5-24A7A242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09</a:t>
            </a:r>
          </a:p>
        </p:txBody>
      </p:sp>
      <p:sp>
        <p:nvSpPr>
          <p:cNvPr id="5" name="process-1">
            <a:extLst xmlns:a="http://schemas.openxmlformats.org/drawingml/2006/main">
              <a:ext uri="{FF2B5EF4-FFF2-40B4-BE49-F238E27FC236}">
                <a16:creationId xmlns:a16="http://schemas.microsoft.com/office/drawing/2014/main" id="{223050B8-DE37-4F36-A119-3FB62D97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0383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2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81494-2A0B-4804-8B2C-9599DE66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EED"/>
          </a:solidFill>
          <a:ln xmlns:a="http://schemas.openxmlformats.org/drawingml/2006/main" w="9525">
            <a:solidFill>
              <a:srgbClr val="15323C"/>
            </a:solidFill>
            <a:prstDash val="solid"/>
          </a:ln>
        </p:spPr>
      </p:sp>
      <p:sp>
        <p:nvSpPr>
          <p:cNvPr id="7" name="① 문의 목록">
            <a:extLst xmlns:a="http://schemas.openxmlformats.org/drawingml/2006/main">
              <a:ext uri="{FF2B5EF4-FFF2-40B4-BE49-F238E27FC236}">
                <a16:creationId xmlns:a16="http://schemas.microsoft.com/office/drawing/2014/main" id="{CFE0AC9A-B2AD-44A2-9FEF-8EE49671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885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① 문의 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8A08C-629D-474D-B990-47FBB3E2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9" name="미처리 문의">
            <a:extLst xmlns:a="http://schemas.openxmlformats.org/drawingml/2006/main">
              <a:ext uri="{FF2B5EF4-FFF2-40B4-BE49-F238E27FC236}">
                <a16:creationId xmlns:a16="http://schemas.microsoft.com/office/drawing/2014/main" id="{755BF122-CEF8-4FCA-89D6-278F0F60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미처리 문의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EC5F1-AD76-4A25-B98C-261F712F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38500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11" name="견적 / 재고 / 호환">
            <a:extLst xmlns:a="http://schemas.openxmlformats.org/drawingml/2006/main">
              <a:ext uri="{FF2B5EF4-FFF2-40B4-BE49-F238E27FC236}">
                <a16:creationId xmlns:a16="http://schemas.microsoft.com/office/drawing/2014/main" id="{59528B7A-4C88-42CF-A8FD-B4E1A2E1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견적 / 재고 / 호환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AEA33-C930-40CD-880F-AFCC4767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38575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13" name="접수·우선순위">
            <a:extLst xmlns:a="http://schemas.openxmlformats.org/drawingml/2006/main">
              <a:ext uri="{FF2B5EF4-FFF2-40B4-BE49-F238E27FC236}">
                <a16:creationId xmlns:a16="http://schemas.microsoft.com/office/drawing/2014/main" id="{2DA29AE0-9C06-4232-9FA8-D6912B78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접수·우선순위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748C2-A1C5-43F1-9453-F17106B6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cess-2">
            <a:extLst xmlns:a="http://schemas.openxmlformats.org/drawingml/2006/main">
              <a:ext uri="{FF2B5EF4-FFF2-40B4-BE49-F238E27FC236}">
                <a16:creationId xmlns:a16="http://schemas.microsoft.com/office/drawing/2014/main" id="{3DF177F8-8596-450D-960B-3FE0DC5B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81200"/>
            <a:ext cx="20383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2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38192-2369-46B9-B241-981CD3DF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812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EED"/>
          </a:solidFill>
          <a:ln xmlns:a="http://schemas.openxmlformats.org/drawingml/2006/main" w="9525">
            <a:solidFill>
              <a:srgbClr val="15323C"/>
            </a:solidFill>
            <a:prstDash val="solid"/>
          </a:ln>
        </p:spPr>
      </p:sp>
      <p:sp>
        <p:nvSpPr>
          <p:cNvPr id="17" name="② AI 문의 분석">
            <a:extLst xmlns:a="http://schemas.openxmlformats.org/drawingml/2006/main">
              <a:ext uri="{FF2B5EF4-FFF2-40B4-BE49-F238E27FC236}">
                <a16:creationId xmlns:a16="http://schemas.microsoft.com/office/drawing/2014/main" id="{6E821162-6B68-489E-82A2-635F583A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028825"/>
            <a:ext cx="1885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② AI 문의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6547C-D1D8-41BC-AA38-855E423F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38425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19" name="핵심 요약">
            <a:extLst xmlns:a="http://schemas.openxmlformats.org/drawingml/2006/main">
              <a:ext uri="{FF2B5EF4-FFF2-40B4-BE49-F238E27FC236}">
                <a16:creationId xmlns:a16="http://schemas.microsoft.com/office/drawing/2014/main" id="{40AA9ABD-A734-4810-9CC9-CF473A1B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7652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핵심 요약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FC890-96ED-4273-BA74-617B0490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21" name="상품·규격·수량">
            <a:extLst xmlns:a="http://schemas.openxmlformats.org/drawingml/2006/main">
              <a:ext uri="{FF2B5EF4-FFF2-40B4-BE49-F238E27FC236}">
                <a16:creationId xmlns:a16="http://schemas.microsoft.com/office/drawing/2014/main" id="{CE7955EC-0467-4331-A87D-81348897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76600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상품·규격·수량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FA5EB-AEE3-46BD-BC78-5CE95CD3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38575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23" name="누락 정보 표시">
            <a:extLst xmlns:a="http://schemas.openxmlformats.org/drawingml/2006/main">
              <a:ext uri="{FF2B5EF4-FFF2-40B4-BE49-F238E27FC236}">
                <a16:creationId xmlns:a16="http://schemas.microsoft.com/office/drawing/2014/main" id="{CD62E49D-8778-48B4-83F8-BDDF2755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87667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누락 정보 표시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7377E-C127-43E7-91C4-121A3D3C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cess-3">
            <a:extLst xmlns:a="http://schemas.openxmlformats.org/drawingml/2006/main">
              <a:ext uri="{FF2B5EF4-FFF2-40B4-BE49-F238E27FC236}">
                <a16:creationId xmlns:a16="http://schemas.microsoft.com/office/drawing/2014/main" id="{15E3E2E8-91D4-4EF3-91E6-7CF1EBA9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20383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2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36D30B-F288-4C03-B874-CE303407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EED"/>
          </a:solidFill>
          <a:ln xmlns:a="http://schemas.openxmlformats.org/drawingml/2006/main" w="9525">
            <a:solidFill>
              <a:srgbClr val="15323C"/>
            </a:solidFill>
            <a:prstDash val="solid"/>
          </a:ln>
        </p:spPr>
      </p:sp>
      <p:sp>
        <p:nvSpPr>
          <p:cNvPr id="27" name="③ 상품·자료 검색">
            <a:extLst xmlns:a="http://schemas.openxmlformats.org/drawingml/2006/main">
              <a:ext uri="{FF2B5EF4-FFF2-40B4-BE49-F238E27FC236}">
                <a16:creationId xmlns:a16="http://schemas.microsoft.com/office/drawing/2014/main" id="{43614EF3-01CB-4686-B7B8-B67504F2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28825"/>
            <a:ext cx="1885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③ 상품·자료 검색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49A546-24EE-4135-80FA-68665822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38425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29" name="추천 상품 후보">
            <a:extLst xmlns:a="http://schemas.openxmlformats.org/drawingml/2006/main">
              <a:ext uri="{FF2B5EF4-FFF2-40B4-BE49-F238E27FC236}">
                <a16:creationId xmlns:a16="http://schemas.microsoft.com/office/drawing/2014/main" id="{DE303B54-4C6C-48A3-9AF0-AAF44F34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7652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추천 상품 후보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7FA38-3DE3-4FA9-AE3D-68B912EF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38500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31" name="규격·호환 자료">
            <a:extLst xmlns:a="http://schemas.openxmlformats.org/drawingml/2006/main">
              <a:ext uri="{FF2B5EF4-FFF2-40B4-BE49-F238E27FC236}">
                <a16:creationId xmlns:a16="http://schemas.microsoft.com/office/drawing/2014/main" id="{0F0F13BB-613D-4124-A1BF-C5C4B1D6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76600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규격·호환 자료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B60FA0-12F3-4F9B-B581-E3A9C631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838575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33" name="문서·출처 링크">
            <a:extLst xmlns:a="http://schemas.openxmlformats.org/drawingml/2006/main">
              <a:ext uri="{FF2B5EF4-FFF2-40B4-BE49-F238E27FC236}">
                <a16:creationId xmlns:a16="http://schemas.microsoft.com/office/drawing/2014/main" id="{9CCB6482-B793-4F80-8021-5D4DAB58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7667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문서·출처 링크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C28319-25AA-4D16-914E-182502FC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rocess-4">
            <a:extLst xmlns:a="http://schemas.openxmlformats.org/drawingml/2006/main">
              <a:ext uri="{FF2B5EF4-FFF2-40B4-BE49-F238E27FC236}">
                <a16:creationId xmlns:a16="http://schemas.microsoft.com/office/drawing/2014/main" id="{40ACDCD9-95C6-4996-848A-304FF861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981200"/>
            <a:ext cx="20383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23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3E208E-A786-4D02-811F-DE3F3DA5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9812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EED"/>
          </a:solidFill>
          <a:ln xmlns:a="http://schemas.openxmlformats.org/drawingml/2006/main" w="9525">
            <a:solidFill>
              <a:srgbClr val="15323C"/>
            </a:solidFill>
            <a:prstDash val="solid"/>
          </a:ln>
        </p:spPr>
      </p:sp>
      <p:sp>
        <p:nvSpPr>
          <p:cNvPr id="37" name="④ 답변 초안">
            <a:extLst xmlns:a="http://schemas.openxmlformats.org/drawingml/2006/main">
              <a:ext uri="{FF2B5EF4-FFF2-40B4-BE49-F238E27FC236}">
                <a16:creationId xmlns:a16="http://schemas.microsoft.com/office/drawing/2014/main" id="{58F77E03-39DE-469C-BB25-34787A8F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028825"/>
            <a:ext cx="1885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④ 답변 초안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95F7E1-AED2-486E-BD34-DEBC2569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38425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39" name="근거 기반 초안">
            <a:extLst xmlns:a="http://schemas.openxmlformats.org/drawingml/2006/main">
              <a:ext uri="{FF2B5EF4-FFF2-40B4-BE49-F238E27FC236}">
                <a16:creationId xmlns:a16="http://schemas.microsoft.com/office/drawing/2014/main" id="{AF51BE3A-B932-4F1B-A148-DD9A1C09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67652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근거 기반 초안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137168-77DF-41A4-A528-1594F607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8500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41" name="확인 필요 항목">
            <a:extLst xmlns:a="http://schemas.openxmlformats.org/drawingml/2006/main">
              <a:ext uri="{FF2B5EF4-FFF2-40B4-BE49-F238E27FC236}">
                <a16:creationId xmlns:a16="http://schemas.microsoft.com/office/drawing/2014/main" id="{D7229B1A-CCDD-4311-9E44-B63E0079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76600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확인 필요 항목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B287CE-7ABC-46CB-8634-3BDB395A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38575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43" name="상담원 수정">
            <a:extLst xmlns:a="http://schemas.openxmlformats.org/drawingml/2006/main">
              <a:ext uri="{FF2B5EF4-FFF2-40B4-BE49-F238E27FC236}">
                <a16:creationId xmlns:a16="http://schemas.microsoft.com/office/drawing/2014/main" id="{C14922F8-0FBE-4074-A978-2394E006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87667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상담원 수정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D9ED11-48FB-4921-A8D0-3915A0B8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3337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rocess-5">
            <a:extLst xmlns:a="http://schemas.openxmlformats.org/drawingml/2006/main">
              <a:ext uri="{FF2B5EF4-FFF2-40B4-BE49-F238E27FC236}">
                <a16:creationId xmlns:a16="http://schemas.microsoft.com/office/drawing/2014/main" id="{F5546076-E7FD-4972-AA89-D2B8F678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81200"/>
            <a:ext cx="20383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23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21A120-37A8-4699-BBE4-CD76DF6D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812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EED"/>
          </a:solidFill>
          <a:ln xmlns:a="http://schemas.openxmlformats.org/drawingml/2006/main" w="9525">
            <a:solidFill>
              <a:srgbClr val="15323C"/>
            </a:solidFill>
            <a:prstDash val="solid"/>
          </a:ln>
        </p:spPr>
      </p:sp>
      <p:sp>
        <p:nvSpPr>
          <p:cNvPr id="47" name="⑤ 검토·전송">
            <a:extLst xmlns:a="http://schemas.openxmlformats.org/drawingml/2006/main">
              <a:ext uri="{FF2B5EF4-FFF2-40B4-BE49-F238E27FC236}">
                <a16:creationId xmlns:a16="http://schemas.microsoft.com/office/drawing/2014/main" id="{8FB47BFA-30C2-4860-8F5A-73C5D1C3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28825"/>
            <a:ext cx="1885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⑤ 검토·전송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22AD7E-CE04-4B87-9078-17D2E28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38425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49" name="상담원 최종 확인">
            <a:extLst xmlns:a="http://schemas.openxmlformats.org/drawingml/2006/main">
              <a:ext uri="{FF2B5EF4-FFF2-40B4-BE49-F238E27FC236}">
                <a16:creationId xmlns:a16="http://schemas.microsoft.com/office/drawing/2014/main" id="{F3453315-3B5D-4585-BA84-588DBB0F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7652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상담원 최종 확인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17A91F-D2B5-4D32-8322-E51FECEA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38500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51" name="수정 · 승인">
            <a:extLst xmlns:a="http://schemas.openxmlformats.org/drawingml/2006/main">
              <a:ext uri="{FF2B5EF4-FFF2-40B4-BE49-F238E27FC236}">
                <a16:creationId xmlns:a16="http://schemas.microsoft.com/office/drawing/2014/main" id="{10899027-6347-4595-A9D4-3648BFC5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76600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수정 · 승인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F8C804-4629-4F6A-9363-F5460B06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38575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F"/>
            </a:solidFill>
            <a:prstDash val="solid"/>
          </a:ln>
        </p:spPr>
      </p:sp>
      <p:sp>
        <p:nvSpPr>
          <p:cNvPr id="53" name="고객에게 전송">
            <a:extLst xmlns:a="http://schemas.openxmlformats.org/drawingml/2006/main">
              <a:ext uri="{FF2B5EF4-FFF2-40B4-BE49-F238E27FC236}">
                <a16:creationId xmlns:a16="http://schemas.microsoft.com/office/drawing/2014/main" id="{E41B780C-B3C5-4E9A-9564-D245CBE6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7667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고객에게 전송</a:t>
            </a:r>
          </a:p>
        </p:txBody>
      </p:sp>
      <p:sp>
        <p:nvSpPr>
          <p:cNvPr id="54" name="누락 정보가 있으면">
            <a:extLst xmlns:a="http://schemas.openxmlformats.org/drawingml/2006/main">
              <a:ext uri="{FF2B5EF4-FFF2-40B4-BE49-F238E27FC236}">
                <a16:creationId xmlns:a16="http://schemas.microsoft.com/office/drawing/2014/main" id="{E33AA2A7-14B8-4C2D-9061-9B55B1A0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누락 정보가 있으면</a:t>
            </a:r>
          </a:p>
        </p:txBody>
      </p:sp>
      <p:sp>
        <p:nvSpPr>
          <p:cNvPr id="55" name="추가 질문 제안 후 회신을 다시 분석">
            <a:extLst xmlns:a="http://schemas.openxmlformats.org/drawingml/2006/main">
              <a:ext uri="{FF2B5EF4-FFF2-40B4-BE49-F238E27FC236}">
                <a16:creationId xmlns:a16="http://schemas.microsoft.com/office/drawing/2014/main" id="{A6A0E8F2-0AFD-4E9D-82D3-82182913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461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65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추가 질문 제안 후 회신을 다시 분석</a:t>
            </a:r>
          </a:p>
        </p:txBody>
      </p:sp>
      <p:sp>
        <p:nvSpPr>
          <p:cNvPr id="56" name="핵심 원칙">
            <a:extLst xmlns:a="http://schemas.openxmlformats.org/drawingml/2006/main">
              <a:ext uri="{FF2B5EF4-FFF2-40B4-BE49-F238E27FC236}">
                <a16:creationId xmlns:a16="http://schemas.microsoft.com/office/drawing/2014/main" id="{1387BEB5-6374-452E-BFF7-24419F92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핵심 원칙</a:t>
            </a:r>
          </a:p>
        </p:txBody>
      </p:sp>
      <p:sp>
        <p:nvSpPr>
          <p:cNvPr id="57" name="상담원이 근거를 확인하고 최종 승인">
            <a:extLst xmlns:a="http://schemas.openxmlformats.org/drawingml/2006/main">
              <a:ext uri="{FF2B5EF4-FFF2-40B4-BE49-F238E27FC236}">
                <a16:creationId xmlns:a16="http://schemas.microsoft.com/office/drawing/2014/main" id="{B6A4C063-7B6D-4A99-B581-10F466BF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65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상담원이 근거를 확인하고 최종 승인</a:t>
            </a:r>
          </a:p>
        </p:txBody>
      </p:sp>
    </p:spTree>
    <p:extLst>
      <p:ext uri="{BB962C8B-B14F-4D97-AF65-F5344CB8AC3E}">
        <p14:creationId xmlns:p14="http://schemas.microsoft.com/office/powerpoint/2010/main" val="13839408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02  연구개발의 목표 및 내용">
            <a:extLst xmlns:a="http://schemas.openxmlformats.org/drawingml/2006/main">
              <a:ext uri="{FF2B5EF4-FFF2-40B4-BE49-F238E27FC236}">
                <a16:creationId xmlns:a16="http://schemas.microsoft.com/office/drawing/2014/main" id="{63F6C0FA-5554-4B00-8F85-2D248ADD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02  연구개발의 목표 및 내용</a:t>
            </a:r>
          </a:p>
        </p:txBody>
      </p:sp>
      <p:sp>
        <p:nvSpPr>
          <p:cNvPr id="2" name="개발 범위와 자동 확정 금지">
            <a:extLst xmlns:a="http://schemas.openxmlformats.org/drawingml/2006/main">
              <a:ext uri="{FF2B5EF4-FFF2-40B4-BE49-F238E27FC236}">
                <a16:creationId xmlns:a16="http://schemas.microsoft.com/office/drawing/2014/main" id="{65220400-659D-4243-9E29-5C27B06B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개발 범위와 자동 확정 금지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A8FB4EF4-67EF-4A48-A34A-010986FA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28CE5002-5257-4A59-95F5-2849BB2F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10</a:t>
            </a:r>
          </a:p>
        </p:txBody>
      </p:sp>
      <p:sp>
        <p:nvSpPr>
          <p:cNvPr id="5" name="코어">
            <a:extLst xmlns:a="http://schemas.openxmlformats.org/drawingml/2006/main">
              <a:ext uri="{FF2B5EF4-FFF2-40B4-BE49-F238E27FC236}">
                <a16:creationId xmlns:a16="http://schemas.microsoft.com/office/drawing/2014/main" id="{EA795C17-6FE6-4FCA-8B0E-04174266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코어</a:t>
            </a:r>
          </a:p>
        </p:txBody>
      </p:sp>
      <p:sp>
        <p:nvSpPr>
          <p:cNvPr id="6" name="문의 구조화·분류">
            <a:extLst xmlns:a="http://schemas.openxmlformats.org/drawingml/2006/main">
              <a:ext uri="{FF2B5EF4-FFF2-40B4-BE49-F238E27FC236}">
                <a16:creationId xmlns:a16="http://schemas.microsoft.com/office/drawing/2014/main" id="{4069D1C6-3D63-4D47-B527-A77122F4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383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문의 구조화·분류</a:t>
            </a:r>
          </a:p>
        </p:txBody>
      </p:sp>
      <p:sp>
        <p:nvSpPr>
          <p:cNvPr id="7" name="의도, 상품, 규격, 수량과 요청사항 추출">
            <a:extLst xmlns:a="http://schemas.openxmlformats.org/drawingml/2006/main">
              <a:ext uri="{FF2B5EF4-FFF2-40B4-BE49-F238E27FC236}">
                <a16:creationId xmlns:a16="http://schemas.microsoft.com/office/drawing/2014/main" id="{DA245F96-A1E8-4DB0-A158-F3779D2A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3832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의도, 상품, 규격, 수량과 요청사항 추출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2A0BA5C8-8DD7-4D50-97D3-7764CB51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코어">
            <a:extLst xmlns:a="http://schemas.openxmlformats.org/drawingml/2006/main">
              <a:ext uri="{FF2B5EF4-FFF2-40B4-BE49-F238E27FC236}">
                <a16:creationId xmlns:a16="http://schemas.microsoft.com/office/drawing/2014/main" id="{75CA5078-384D-4480-8160-5B4435D5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코어</a:t>
            </a:r>
          </a:p>
        </p:txBody>
      </p:sp>
      <p:sp>
        <p:nvSpPr>
          <p:cNvPr id="10" name="누락 정보 확인">
            <a:extLst xmlns:a="http://schemas.openxmlformats.org/drawingml/2006/main">
              <a:ext uri="{FF2B5EF4-FFF2-40B4-BE49-F238E27FC236}">
                <a16:creationId xmlns:a16="http://schemas.microsoft.com/office/drawing/2014/main" id="{D31E26DE-0945-4D36-BF18-8D4D6AF0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527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누락 정보 확인</a:t>
            </a:r>
          </a:p>
        </p:txBody>
      </p:sp>
      <p:sp>
        <p:nvSpPr>
          <p:cNvPr id="11" name="부족한 항목과 추가 질문 제안">
            <a:extLst xmlns:a="http://schemas.openxmlformats.org/drawingml/2006/main">
              <a:ext uri="{FF2B5EF4-FFF2-40B4-BE49-F238E27FC236}">
                <a16:creationId xmlns:a16="http://schemas.microsoft.com/office/drawing/2014/main" id="{CE1F01AB-9DF6-47A8-A3FC-F5B098A6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5270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부족한 항목과 추가 질문 제안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255EB01F-577D-494A-AE17-7896E2D4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코어">
            <a:extLst xmlns:a="http://schemas.openxmlformats.org/drawingml/2006/main">
              <a:ext uri="{FF2B5EF4-FFF2-40B4-BE49-F238E27FC236}">
                <a16:creationId xmlns:a16="http://schemas.microsoft.com/office/drawing/2014/main" id="{0186FDBA-9A88-489F-AE49-07820817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코어</a:t>
            </a:r>
          </a:p>
        </p:txBody>
      </p:sp>
      <p:sp>
        <p:nvSpPr>
          <p:cNvPr id="14" name="상품·자료 검색">
            <a:extLst xmlns:a="http://schemas.openxmlformats.org/drawingml/2006/main">
              <a:ext uri="{FF2B5EF4-FFF2-40B4-BE49-F238E27FC236}">
                <a16:creationId xmlns:a16="http://schemas.microsoft.com/office/drawing/2014/main" id="{18ADD6FF-59C1-4CA1-818C-037DF2E0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670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상품·자료 검색</a:t>
            </a:r>
          </a:p>
        </p:txBody>
      </p:sp>
      <p:sp>
        <p:nvSpPr>
          <p:cNvPr id="15" name="후보, 규격서·매뉴얼, 출처와 신뢰도 표시">
            <a:extLst xmlns:a="http://schemas.openxmlformats.org/drawingml/2006/main">
              <a:ext uri="{FF2B5EF4-FFF2-40B4-BE49-F238E27FC236}">
                <a16:creationId xmlns:a16="http://schemas.microsoft.com/office/drawing/2014/main" id="{F82A9437-8EF4-435F-B241-218644B2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6707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후보, 규격서·매뉴얼, 출처와 신뢰도 표시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71BC7093-20D7-4F75-8483-5EE127BF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코어">
            <a:extLst xmlns:a="http://schemas.openxmlformats.org/drawingml/2006/main">
              <a:ext uri="{FF2B5EF4-FFF2-40B4-BE49-F238E27FC236}">
                <a16:creationId xmlns:a16="http://schemas.microsoft.com/office/drawing/2014/main" id="{09DC1282-471A-4110-B56B-84E1E7F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코어</a:t>
            </a:r>
          </a:p>
        </p:txBody>
      </p:sp>
      <p:sp>
        <p:nvSpPr>
          <p:cNvPr id="18" name="근거 초안·승인">
            <a:extLst xmlns:a="http://schemas.openxmlformats.org/drawingml/2006/main">
              <a:ext uri="{FF2B5EF4-FFF2-40B4-BE49-F238E27FC236}">
                <a16:creationId xmlns:a16="http://schemas.microsoft.com/office/drawing/2014/main" id="{D67117E3-8D79-4518-BB6D-82428BC2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814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근거 초안·승인</a:t>
            </a:r>
          </a:p>
        </p:txBody>
      </p:sp>
      <p:sp>
        <p:nvSpPr>
          <p:cNvPr id="19" name="확인 필요 항목을 표시하고 상담원이 수정·승">
            <a:extLst xmlns:a="http://schemas.openxmlformats.org/drawingml/2006/main">
              <a:ext uri="{FF2B5EF4-FFF2-40B4-BE49-F238E27FC236}">
                <a16:creationId xmlns:a16="http://schemas.microsoft.com/office/drawing/2014/main" id="{6AD423E1-EE98-462A-9130-C8B42A23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8145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확인 필요 항목을 표시하고 상담원이 수정·승인</a:t>
            </a:r>
          </a:p>
        </p:txBody>
      </p:sp>
      <p:sp>
        <p:nvSpPr>
          <p:cNvPr id="20" name="divider">
            <a:extLst xmlns:a="http://schemas.openxmlformats.org/drawingml/2006/main">
              <a:ext uri="{FF2B5EF4-FFF2-40B4-BE49-F238E27FC236}">
                <a16:creationId xmlns:a16="http://schemas.microsoft.com/office/drawing/2014/main" id="{BB2B98CC-AC29-4361-A7CC-28ACC67B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부가">
            <a:extLst xmlns:a="http://schemas.openxmlformats.org/drawingml/2006/main">
              <a:ext uri="{FF2B5EF4-FFF2-40B4-BE49-F238E27FC236}">
                <a16:creationId xmlns:a16="http://schemas.microsoft.com/office/drawing/2014/main" id="{8C8B48A0-CAFF-466F-A7DD-82B6FED6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119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1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부가</a:t>
            </a:r>
          </a:p>
        </p:txBody>
      </p:sp>
      <p:sp>
        <p:nvSpPr>
          <p:cNvPr id="22" name="문의 우선순위·현황">
            <a:extLst xmlns:a="http://schemas.openxmlformats.org/drawingml/2006/main">
              <a:ext uri="{FF2B5EF4-FFF2-40B4-BE49-F238E27FC236}">
                <a16:creationId xmlns:a16="http://schemas.microsoft.com/office/drawing/2014/main" id="{6DE24EBD-ACF3-4002-8F11-7C0181E5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958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문의 우선순위·현황</a:t>
            </a:r>
          </a:p>
        </p:txBody>
      </p:sp>
      <p:sp>
        <p:nvSpPr>
          <p:cNvPr id="23" name="미처리 건을 간단히 표시">
            <a:extLst xmlns:a="http://schemas.openxmlformats.org/drawingml/2006/main">
              <a:ext uri="{FF2B5EF4-FFF2-40B4-BE49-F238E27FC236}">
                <a16:creationId xmlns:a16="http://schemas.microsoft.com/office/drawing/2014/main" id="{BA396B81-3D31-44FC-AA91-EB030DB5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9582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미처리 건을 간단히 표시</a:t>
            </a:r>
          </a:p>
        </p:txBody>
      </p:sp>
      <p:sp>
        <p:nvSpPr>
          <p:cNvPr id="24" name="divider">
            <a:extLst xmlns:a="http://schemas.openxmlformats.org/drawingml/2006/main">
              <a:ext uri="{FF2B5EF4-FFF2-40B4-BE49-F238E27FC236}">
                <a16:creationId xmlns:a16="http://schemas.microsoft.com/office/drawing/2014/main" id="{F9A4EB3C-682A-4D38-B258-F6A542B7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B0C0D-9029-44F5-AEAA-11E1E45D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제외: 로그인 공급사의 가격·재고·납기를 A">
            <a:extLst xmlns:a="http://schemas.openxmlformats.org/drawingml/2006/main">
              <a:ext uri="{FF2B5EF4-FFF2-40B4-BE49-F238E27FC236}">
                <a16:creationId xmlns:a16="http://schemas.microsoft.com/office/drawing/2014/main" id="{9FB08B0C-B3A1-438A-9B1A-DE505D2F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67375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1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rPr>
              <a:t>제외: 로그인 공급사의 가격·재고·납기를 AI가 실시간으로 자동 확정하는 기능</a:t>
            </a:r>
          </a:p>
        </p:txBody>
      </p:sp>
    </p:spTree>
    <p:extLst>
      <p:ext uri="{BB962C8B-B14F-4D97-AF65-F5344CB8AC3E}">
        <p14:creationId xmlns:p14="http://schemas.microsoft.com/office/powerpoint/2010/main" val="1072930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02  연구개발의 목표 및 내용">
            <a:extLst xmlns:a="http://schemas.openxmlformats.org/drawingml/2006/main">
              <a:ext uri="{FF2B5EF4-FFF2-40B4-BE49-F238E27FC236}">
                <a16:creationId xmlns:a16="http://schemas.microsoft.com/office/drawing/2014/main" id="{E356CB91-B886-46A7-A2B5-B22C9270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02  연구개발의 목표 및 내용</a:t>
            </a:r>
          </a:p>
        </p:txBody>
      </p:sp>
      <p:sp>
        <p:nvSpPr>
          <p:cNvPr id="2" name="달성 지표와 측정 방법">
            <a:extLst xmlns:a="http://schemas.openxmlformats.org/drawingml/2006/main">
              <a:ext uri="{FF2B5EF4-FFF2-40B4-BE49-F238E27FC236}">
                <a16:creationId xmlns:a16="http://schemas.microsoft.com/office/drawing/2014/main" id="{4C620FDC-9E63-4C85-8EEB-7C314FF7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달성 지표와 측정 방법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968CE14A-2114-461C-8764-E74FF637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ABA88080-487C-4BAD-B5B4-61CECA19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11</a:t>
            </a:r>
          </a:p>
        </p:txBody>
      </p:sp>
      <p:sp>
        <p:nvSpPr>
          <p:cNvPr id="5" name="90% 이상">
            <a:extLst xmlns:a="http://schemas.openxmlformats.org/drawingml/2006/main">
              <a:ext uri="{FF2B5EF4-FFF2-40B4-BE49-F238E27FC236}">
                <a16:creationId xmlns:a16="http://schemas.microsoft.com/office/drawing/2014/main" id="{7D8F3D55-CF4E-413E-8F11-671461AD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90% 이상</a:t>
            </a:r>
          </a:p>
        </p:txBody>
      </p:sp>
      <p:sp>
        <p:nvSpPr>
          <p:cNvPr id="6" name="답변 초안 적합률">
            <a:extLst xmlns:a="http://schemas.openxmlformats.org/drawingml/2006/main">
              <a:ext uri="{FF2B5EF4-FFF2-40B4-BE49-F238E27FC236}">
                <a16:creationId xmlns:a16="http://schemas.microsoft.com/office/drawing/2014/main" id="{9D1078BC-3ECD-4809-87D0-1C4F910F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8120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답변 초안 적합률</a:t>
            </a:r>
          </a:p>
        </p:txBody>
      </p:sp>
      <p:sp>
        <p:nvSpPr>
          <p:cNvPr id="7" name="상담원이 수정 후 사용 가능한지 판정">
            <a:extLst xmlns:a="http://schemas.openxmlformats.org/drawingml/2006/main">
              <a:ext uri="{FF2B5EF4-FFF2-40B4-BE49-F238E27FC236}">
                <a16:creationId xmlns:a16="http://schemas.microsoft.com/office/drawing/2014/main" id="{4B5C49B7-63BF-4860-AEF5-94AF3FD7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812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상담원이 수정 후 사용 가능한지 판정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16E9A01D-5A75-4A26-949E-49BCE955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30% 이상">
            <a:extLst xmlns:a="http://schemas.openxmlformats.org/drawingml/2006/main">
              <a:ext uri="{FF2B5EF4-FFF2-40B4-BE49-F238E27FC236}">
                <a16:creationId xmlns:a16="http://schemas.microsoft.com/office/drawing/2014/main" id="{47259881-53AE-4BA6-B64A-7F70C9E1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30% 이상</a:t>
            </a:r>
          </a:p>
        </p:txBody>
      </p:sp>
      <p:sp>
        <p:nvSpPr>
          <p:cNvPr id="10" name="평균 처리 시간 단축">
            <a:extLst xmlns:a="http://schemas.openxmlformats.org/drawingml/2006/main">
              <a:ext uri="{FF2B5EF4-FFF2-40B4-BE49-F238E27FC236}">
                <a16:creationId xmlns:a16="http://schemas.microsoft.com/office/drawing/2014/main" id="{AA6C162D-F262-4BE2-B6E4-2352D6A8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43225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평균 처리 시간 단축</a:t>
            </a:r>
          </a:p>
        </p:txBody>
      </p:sp>
      <p:sp>
        <p:nvSpPr>
          <p:cNvPr id="11" name="동일·유사 문의의 AS-IS와 TO-BE 시">
            <a:extLst xmlns:a="http://schemas.openxmlformats.org/drawingml/2006/main">
              <a:ext uri="{FF2B5EF4-FFF2-40B4-BE49-F238E27FC236}">
                <a16:creationId xmlns:a16="http://schemas.microsoft.com/office/drawing/2014/main" id="{054E7029-AB5E-41B1-B81E-13D5129F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4322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동일·유사 문의의 AS-IS와 TO-BE 시간 비교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D4C34765-1ADD-472D-8E3D-98B8917C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40% 이상">
            <a:extLst xmlns:a="http://schemas.openxmlformats.org/drawingml/2006/main">
              <a:ext uri="{FF2B5EF4-FFF2-40B4-BE49-F238E27FC236}">
                <a16:creationId xmlns:a16="http://schemas.microsoft.com/office/drawing/2014/main" id="{23BC0809-5FBE-4255-8F3B-249DA8F7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40% 이상</a:t>
            </a:r>
          </a:p>
        </p:txBody>
      </p:sp>
      <p:sp>
        <p:nvSpPr>
          <p:cNvPr id="14" name="자동 전처리 완료 비율">
            <a:extLst xmlns:a="http://schemas.openxmlformats.org/drawingml/2006/main">
              <a:ext uri="{FF2B5EF4-FFF2-40B4-BE49-F238E27FC236}">
                <a16:creationId xmlns:a16="http://schemas.microsoft.com/office/drawing/2014/main" id="{E6013C40-05A4-4FFD-8E63-386D9A6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자동 전처리 완료 비율</a:t>
            </a:r>
          </a:p>
        </p:txBody>
      </p:sp>
      <p:sp>
        <p:nvSpPr>
          <p:cNvPr id="15" name="의도·핵심·누락·상품 후보가 수작업 없이 제">
            <a:extLst xmlns:a="http://schemas.openxmlformats.org/drawingml/2006/main">
              <a:ext uri="{FF2B5EF4-FFF2-40B4-BE49-F238E27FC236}">
                <a16:creationId xmlns:a16="http://schemas.microsoft.com/office/drawing/2014/main" id="{CDA8E596-142B-4DE0-AEC2-A3BEF9FE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의도·핵심·누락·상품 후보가 수작업 없이 제시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5F724F96-888A-4C67-8775-6B29E1CB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4.0 / 5">
            <a:extLst xmlns:a="http://schemas.openxmlformats.org/drawingml/2006/main">
              <a:ext uri="{FF2B5EF4-FFF2-40B4-BE49-F238E27FC236}">
                <a16:creationId xmlns:a16="http://schemas.microsoft.com/office/drawing/2014/main" id="{69EFA704-B17A-4632-B59C-EDE923D6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4.0 / 5</a:t>
            </a:r>
          </a:p>
        </p:txBody>
      </p:sp>
      <p:sp>
        <p:nvSpPr>
          <p:cNvPr id="18" name="유용성·통제감">
            <a:extLst xmlns:a="http://schemas.openxmlformats.org/drawingml/2006/main">
              <a:ext uri="{FF2B5EF4-FFF2-40B4-BE49-F238E27FC236}">
                <a16:creationId xmlns:a16="http://schemas.microsoft.com/office/drawing/2014/main" id="{276258EF-775E-4225-8340-9574F4E9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67275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유용성·통제감</a:t>
            </a:r>
          </a:p>
        </p:txBody>
      </p:sp>
      <p:sp>
        <p:nvSpPr>
          <p:cNvPr id="19" name="프로토타입 후 도움·근거·통제감 설문">
            <a:extLst xmlns:a="http://schemas.openxmlformats.org/drawingml/2006/main">
              <a:ext uri="{FF2B5EF4-FFF2-40B4-BE49-F238E27FC236}">
                <a16:creationId xmlns:a16="http://schemas.microsoft.com/office/drawing/2014/main" id="{8D22447B-1605-40B1-B89F-FE794AD9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6727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프로토타입 후 도움·근거·통제감 설문</a:t>
            </a:r>
          </a:p>
        </p:txBody>
      </p:sp>
      <p:sp>
        <p:nvSpPr>
          <p:cNvPr id="20" name="divider">
            <a:extLst xmlns:a="http://schemas.openxmlformats.org/drawingml/2006/main">
              <a:ext uri="{FF2B5EF4-FFF2-40B4-BE49-F238E27FC236}">
                <a16:creationId xmlns:a16="http://schemas.microsoft.com/office/drawing/2014/main" id="{FA379909-E7B2-48B9-B7F3-D6BFDAE7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9597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3  추진전략 및 방법">
            <a:extLst xmlns:a="http://schemas.openxmlformats.org/drawingml/2006/main">
              <a:ext uri="{FF2B5EF4-FFF2-40B4-BE49-F238E27FC236}">
                <a16:creationId xmlns:a16="http://schemas.microsoft.com/office/drawing/2014/main" id="{A1FD32D3-EA3F-4C51-AA52-FCD52D2A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03  추진전략 및 방법</a:t>
            </a:r>
          </a:p>
        </p:txBody>
      </p:sp>
      <p:sp>
        <p:nvSpPr>
          <p:cNvPr id="2" name="AS-IS와 TO-BE 시나리오">
            <a:extLst xmlns:a="http://schemas.openxmlformats.org/drawingml/2006/main">
              <a:ext uri="{FF2B5EF4-FFF2-40B4-BE49-F238E27FC236}">
                <a16:creationId xmlns:a16="http://schemas.microsoft.com/office/drawing/2014/main" id="{29E07867-EBA5-461E-9243-AC43EEDB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AS-IS와 TO-BE 시나리오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233578CB-19A9-4CCF-ADBE-540197B0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673E0EE4-2C65-4FE4-A3D7-4309C1ED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12</a:t>
            </a:r>
          </a:p>
        </p:txBody>
      </p:sp>
      <p:sp>
        <p:nvSpPr>
          <p:cNvPr id="5" name="현재 AS-IS">
            <a:extLst xmlns:a="http://schemas.openxmlformats.org/drawingml/2006/main">
              <a:ext uri="{FF2B5EF4-FFF2-40B4-BE49-F238E27FC236}">
                <a16:creationId xmlns:a16="http://schemas.microsoft.com/office/drawing/2014/main" id="{EA45E712-0EFA-41CE-8589-27C6A8F7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85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현재 AS-IS</a:t>
            </a:r>
          </a:p>
        </p:txBody>
      </p:sp>
      <p:sp>
        <p:nvSpPr>
          <p:cNvPr id="6" name="개선 TO-BE">
            <a:extLst xmlns:a="http://schemas.openxmlformats.org/drawingml/2006/main">
              <a:ext uri="{FF2B5EF4-FFF2-40B4-BE49-F238E27FC236}">
                <a16:creationId xmlns:a16="http://schemas.microsoft.com/office/drawing/2014/main" id="{9D090223-D0F9-41B0-91A4-FC693219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개선 TO-BE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87B029A4-3B85-45C8-85F2-E379A8C9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  견적·재고·납기">
            <a:extLst xmlns:a="http://schemas.openxmlformats.org/drawingml/2006/main">
              <a:ext uri="{FF2B5EF4-FFF2-40B4-BE49-F238E27FC236}">
                <a16:creationId xmlns:a16="http://schemas.microsoft.com/office/drawing/2014/main" id="{C54783A8-5894-4EED-BDC9-6E2D74D1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95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A  견적·재고·납기</a:t>
            </a:r>
          </a:p>
        </p:txBody>
      </p:sp>
      <p:sp>
        <p:nvSpPr>
          <p:cNvPr id="9" name="복합 문의를 해석하고 공급사 정보를 직접 검">
            <a:extLst xmlns:a="http://schemas.openxmlformats.org/drawingml/2006/main">
              <a:ext uri="{FF2B5EF4-FFF2-40B4-BE49-F238E27FC236}">
                <a16:creationId xmlns:a16="http://schemas.microsoft.com/office/drawing/2014/main" id="{29FA4606-91EE-4AB0-8AFA-B2F13B01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3695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복합 문의를 해석하고 공급사 정보를 직접 검색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규격이 빠지면 고객에게 재질문</a:t>
            </a:r>
          </a:p>
        </p:txBody>
      </p:sp>
      <p:sp>
        <p:nvSpPr>
          <p:cNvPr id="10" name="의도·코드·수량 구조화&#10;누락 표시, 출처 제">
            <a:extLst xmlns:a="http://schemas.openxmlformats.org/drawingml/2006/main">
              <a:ext uri="{FF2B5EF4-FFF2-40B4-BE49-F238E27FC236}">
                <a16:creationId xmlns:a16="http://schemas.microsoft.com/office/drawing/2014/main" id="{692267BA-3DB9-495A-9706-14698304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28875"/>
            <a:ext cx="3905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의도·코드·수량 구조화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누락 표시, 출처 제시, 초안 검토 후 전송</a:t>
            </a:r>
          </a:p>
        </p:txBody>
      </p:sp>
      <p:sp>
        <p:nvSpPr>
          <p:cNvPr id="11" name="divider">
            <a:extLst xmlns:a="http://schemas.openxmlformats.org/drawingml/2006/main">
              <a:ext uri="{FF2B5EF4-FFF2-40B4-BE49-F238E27FC236}">
                <a16:creationId xmlns:a16="http://schemas.microsoft.com/office/drawing/2014/main" id="{0900E9CD-B84C-4E29-B155-E3BF5361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  용도·유사어">
            <a:extLst xmlns:a="http://schemas.openxmlformats.org/drawingml/2006/main">
              <a:ext uri="{FF2B5EF4-FFF2-40B4-BE49-F238E27FC236}">
                <a16:creationId xmlns:a16="http://schemas.microsoft.com/office/drawing/2014/main" id="{927E69E0-FB1C-4111-8DA0-553420F4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495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B  용도·유사어</a:t>
            </a:r>
          </a:p>
        </p:txBody>
      </p:sp>
      <p:sp>
        <p:nvSpPr>
          <p:cNvPr id="13" name="키워드를 바꿔 상품 후보를 검색&#10;규격서·호환">
            <a:extLst xmlns:a="http://schemas.openxmlformats.org/drawingml/2006/main">
              <a:ext uri="{FF2B5EF4-FFF2-40B4-BE49-F238E27FC236}">
                <a16:creationId xmlns:a16="http://schemas.microsoft.com/office/drawing/2014/main" id="{4E652DB7-BC42-4E59-A0A5-E153A90E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95750"/>
            <a:ext cx="3695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키워드를 바꿔 상품 후보를 검색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규격서·호환·대체 자료를 직접 비교</a:t>
            </a:r>
          </a:p>
        </p:txBody>
      </p:sp>
      <p:sp>
        <p:nvSpPr>
          <p:cNvPr id="14" name="용도와 핵심어 추출&#10;후보·자료·출처를 비교한">
            <a:extLst xmlns:a="http://schemas.openxmlformats.org/drawingml/2006/main">
              <a:ext uri="{FF2B5EF4-FFF2-40B4-BE49-F238E27FC236}">
                <a16:creationId xmlns:a16="http://schemas.microsoft.com/office/drawing/2014/main" id="{0C594F41-9A9B-43AB-9AF4-A42EE102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95750"/>
            <a:ext cx="3905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용도와 핵심어 추출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후보·자료·출처를 비교한 뒤 초안 승인</a:t>
            </a:r>
          </a:p>
        </p:txBody>
      </p:sp>
      <p:sp>
        <p:nvSpPr>
          <p:cNvPr id="15" name="divider">
            <a:extLst xmlns:a="http://schemas.openxmlformats.org/drawingml/2006/main">
              <a:ext uri="{FF2B5EF4-FFF2-40B4-BE49-F238E27FC236}">
                <a16:creationId xmlns:a16="http://schemas.microsoft.com/office/drawing/2014/main" id="{A5C7B452-92A2-4ED7-A001-28777F07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변화: 검색·정리 부담을 줄이고 확정 판단은">
            <a:extLst xmlns:a="http://schemas.openxmlformats.org/drawingml/2006/main">
              <a:ext uri="{FF2B5EF4-FFF2-40B4-BE49-F238E27FC236}">
                <a16:creationId xmlns:a16="http://schemas.microsoft.com/office/drawing/2014/main" id="{4765F743-D34E-4529-88EE-9BC4BD0E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1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변화: 검색·정리 부담을 줄이고 확정 판단은 상담원이 유지</a:t>
            </a:r>
          </a:p>
        </p:txBody>
      </p:sp>
    </p:spTree>
    <p:extLst>
      <p:ext uri="{BB962C8B-B14F-4D97-AF65-F5344CB8AC3E}">
        <p14:creationId xmlns:p14="http://schemas.microsoft.com/office/powerpoint/2010/main" val="12935282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03  추진전략 및 방법">
            <a:extLst xmlns:a="http://schemas.openxmlformats.org/drawingml/2006/main">
              <a:ext uri="{FF2B5EF4-FFF2-40B4-BE49-F238E27FC236}">
                <a16:creationId xmlns:a16="http://schemas.microsoft.com/office/drawing/2014/main" id="{F42C3F20-6FE1-4FDA-A8F7-91E1FC31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03  추진전략 및 방법</a:t>
            </a:r>
          </a:p>
        </p:txBody>
      </p:sp>
      <p:sp>
        <p:nvSpPr>
          <p:cNvPr id="2" name="프로토타입 검증 단계">
            <a:extLst xmlns:a="http://schemas.openxmlformats.org/drawingml/2006/main">
              <a:ext uri="{FF2B5EF4-FFF2-40B4-BE49-F238E27FC236}">
                <a16:creationId xmlns:a16="http://schemas.microsoft.com/office/drawing/2014/main" id="{0B19006B-A305-47DC-91CD-2D28650D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프로토타입 검증 단계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68A396D6-E79D-4535-ADD1-B6B1C7F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9CA85377-DC4C-4D95-BB6E-E12933A9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13</a:t>
            </a:r>
          </a:p>
        </p:txBody>
      </p:sp>
      <p:sp>
        <p:nvSpPr>
          <p:cNvPr id="5" name="5주차">
            <a:extLst xmlns:a="http://schemas.openxmlformats.org/drawingml/2006/main">
              <a:ext uri="{FF2B5EF4-FFF2-40B4-BE49-F238E27FC236}">
                <a16:creationId xmlns:a16="http://schemas.microsoft.com/office/drawing/2014/main" id="{C37931ED-FEFD-4157-A22E-79B1D468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5주차</a:t>
            </a:r>
          </a:p>
        </p:txBody>
      </p:sp>
      <p:sp>
        <p:nvSpPr>
          <p:cNvPr id="6" name="컨셉 시트·스토리보드">
            <a:extLst xmlns:a="http://schemas.openxmlformats.org/drawingml/2006/main">
              <a:ext uri="{FF2B5EF4-FFF2-40B4-BE49-F238E27FC236}">
                <a16:creationId xmlns:a16="http://schemas.microsoft.com/office/drawing/2014/main" id="{4B3D7B47-3130-4BA2-BA9F-854402C6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050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컨셉 시트·스토리보드</a:t>
            </a:r>
          </a:p>
        </p:txBody>
      </p:sp>
      <p:sp>
        <p:nvSpPr>
          <p:cNvPr id="7" name="전체 흐름과 HMW 반영을 워크스루">
            <a:extLst xmlns:a="http://schemas.openxmlformats.org/drawingml/2006/main">
              <a:ext uri="{FF2B5EF4-FFF2-40B4-BE49-F238E27FC236}">
                <a16:creationId xmlns:a16="http://schemas.microsoft.com/office/drawing/2014/main" id="{699844D3-8971-44FF-94BD-82FCEA7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050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전체 흐름과 HMW 반영을 워크스루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6F17764D-6302-4345-B84E-485B5E53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5~6주차">
            <a:extLst xmlns:a="http://schemas.openxmlformats.org/drawingml/2006/main">
              <a:ext uri="{FF2B5EF4-FFF2-40B4-BE49-F238E27FC236}">
                <a16:creationId xmlns:a16="http://schemas.microsoft.com/office/drawing/2014/main" id="{D49DE00C-9D86-4D87-9555-10ECCF23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5~6주차</a:t>
            </a:r>
          </a:p>
        </p:txBody>
      </p:sp>
      <p:sp>
        <p:nvSpPr>
          <p:cNvPr id="10" name="페이퍼 프로토타입">
            <a:extLst xmlns:a="http://schemas.openxmlformats.org/drawingml/2006/main">
              <a:ext uri="{FF2B5EF4-FFF2-40B4-BE49-F238E27FC236}">
                <a16:creationId xmlns:a16="http://schemas.microsoft.com/office/drawing/2014/main" id="{31BE2ED3-D474-406F-9032-9C505C45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575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페이퍼 프로토타입</a:t>
            </a:r>
          </a:p>
        </p:txBody>
      </p:sp>
      <p:sp>
        <p:nvSpPr>
          <p:cNvPr id="11" name="누락·근거·승인 위치를 태스크로 관찰">
            <a:extLst xmlns:a="http://schemas.openxmlformats.org/drawingml/2006/main">
              <a:ext uri="{FF2B5EF4-FFF2-40B4-BE49-F238E27FC236}">
                <a16:creationId xmlns:a16="http://schemas.microsoft.com/office/drawing/2014/main" id="{9A6FB1E6-1D67-4E44-B5E0-C89E9624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누락·근거·승인 위치를 태스크로 관찰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4E74DAAB-DA77-4F7C-A261-A5F850AB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6~7주차">
            <a:extLst xmlns:a="http://schemas.openxmlformats.org/drawingml/2006/main">
              <a:ext uri="{FF2B5EF4-FFF2-40B4-BE49-F238E27FC236}">
                <a16:creationId xmlns:a16="http://schemas.microsoft.com/office/drawing/2014/main" id="{D37588F9-AF03-42A2-A090-F734AF6C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6~7주차</a:t>
            </a:r>
          </a:p>
        </p:txBody>
      </p:sp>
      <p:sp>
        <p:nvSpPr>
          <p:cNvPr id="14" name="UI 목업">
            <a:extLst xmlns:a="http://schemas.openxmlformats.org/drawingml/2006/main">
              <a:ext uri="{FF2B5EF4-FFF2-40B4-BE49-F238E27FC236}">
                <a16:creationId xmlns:a16="http://schemas.microsoft.com/office/drawing/2014/main" id="{2AA4C377-C961-40B5-960B-057FE8DF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100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UI 목업</a:t>
            </a:r>
          </a:p>
        </p:txBody>
      </p:sp>
      <p:sp>
        <p:nvSpPr>
          <p:cNvPr id="15" name="화면 순서·정보량·승인 동선을 클릭 테스트">
            <a:extLst xmlns:a="http://schemas.openxmlformats.org/drawingml/2006/main">
              <a:ext uri="{FF2B5EF4-FFF2-40B4-BE49-F238E27FC236}">
                <a16:creationId xmlns:a16="http://schemas.microsoft.com/office/drawing/2014/main" id="{54B12065-A595-47CA-8029-2CCA0A1B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100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화면 순서·정보량·승인 동선을 클릭 테스트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7487BD5B-29F1-4976-B806-41FAA540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8~14주차">
            <a:extLst xmlns:a="http://schemas.openxmlformats.org/drawingml/2006/main">
              <a:ext uri="{FF2B5EF4-FFF2-40B4-BE49-F238E27FC236}">
                <a16:creationId xmlns:a16="http://schemas.microsoft.com/office/drawing/2014/main" id="{52609468-A57F-4363-8DED-44EB12D5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9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8~14주차</a:t>
            </a:r>
          </a:p>
        </p:txBody>
      </p:sp>
      <p:sp>
        <p:nvSpPr>
          <p:cNvPr id="18" name="동작 웹 MVP">
            <a:extLst xmlns:a="http://schemas.openxmlformats.org/drawingml/2006/main">
              <a:ext uri="{FF2B5EF4-FFF2-40B4-BE49-F238E27FC236}">
                <a16:creationId xmlns:a16="http://schemas.microsoft.com/office/drawing/2014/main" id="{AA6FEE7B-44DA-4B02-8392-D50D106D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625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동작 웹 MVP</a:t>
            </a:r>
          </a:p>
        </p:txBody>
      </p:sp>
      <p:sp>
        <p:nvSpPr>
          <p:cNvPr id="19" name="시간·초안 적합·전처리 비율 비교 테스트">
            <a:extLst xmlns:a="http://schemas.openxmlformats.org/drawingml/2006/main">
              <a:ext uri="{FF2B5EF4-FFF2-40B4-BE49-F238E27FC236}">
                <a16:creationId xmlns:a16="http://schemas.microsoft.com/office/drawing/2014/main" id="{7D00D4B7-C9CA-458E-8415-02872EB0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625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시간·초안 적합·전처리 비율 비교 테스트</a:t>
            </a:r>
          </a:p>
        </p:txBody>
      </p:sp>
      <p:sp>
        <p:nvSpPr>
          <p:cNvPr id="20" name="divider">
            <a:extLst xmlns:a="http://schemas.openxmlformats.org/drawingml/2006/main">
              <a:ext uri="{FF2B5EF4-FFF2-40B4-BE49-F238E27FC236}">
                <a16:creationId xmlns:a16="http://schemas.microsoft.com/office/drawing/2014/main" id="{714A6024-10B3-4356-8849-4F841400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00591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3  추진전략 및 방법">
            <a:extLst xmlns:a="http://schemas.openxmlformats.org/drawingml/2006/main">
              <a:ext uri="{FF2B5EF4-FFF2-40B4-BE49-F238E27FC236}">
                <a16:creationId xmlns:a16="http://schemas.microsoft.com/office/drawing/2014/main" id="{FCBBDAD2-C62A-4D00-BA1E-BC855813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03  추진전략 및 방법</a:t>
            </a:r>
          </a:p>
        </p:txBody>
      </p:sp>
      <p:sp>
        <p:nvSpPr>
          <p:cNvPr id="2" name="테스트 계획과 개발 환경">
            <a:extLst xmlns:a="http://schemas.openxmlformats.org/drawingml/2006/main">
              <a:ext uri="{FF2B5EF4-FFF2-40B4-BE49-F238E27FC236}">
                <a16:creationId xmlns:a16="http://schemas.microsoft.com/office/drawing/2014/main" id="{707F43E6-5906-46A1-B335-FD7737BC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테스트 계획과 개발 환경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1A029406-51B9-4B71-B6DC-55343E82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AE4E3406-E7D9-4041-8C07-30C5F7A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14</a:t>
            </a:r>
          </a:p>
        </p:txBody>
      </p:sp>
      <p:sp>
        <p:nvSpPr>
          <p:cNvPr id="5" name="Pre-test  5~7주">
            <a:extLst xmlns:a="http://schemas.openxmlformats.org/drawingml/2006/main">
              <a:ext uri="{FF2B5EF4-FFF2-40B4-BE49-F238E27FC236}">
                <a16:creationId xmlns:a16="http://schemas.microsoft.com/office/drawing/2014/main" id="{7867F69C-23A9-4CDB-B175-02E34341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Pre-test  5~7주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60158EEF-87CB-43F9-97A8-30181571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비식별 문의 15~20건 선정&#10;AS-IS 처">
            <a:extLst xmlns:a="http://schemas.openxmlformats.org/drawingml/2006/main">
              <a:ext uri="{FF2B5EF4-FFF2-40B4-BE49-F238E27FC236}">
                <a16:creationId xmlns:a16="http://schemas.microsoft.com/office/drawing/2014/main" id="{0B85ABFA-E9D1-495D-94C9-9E35BEE7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323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비식별 문의 15~20건 선정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AS-IS 처리 시간 기준 설정</a:t>
            </a:r>
          </a:p>
        </p:txBody>
      </p:sp>
      <p:sp>
        <p:nvSpPr>
          <p:cNvPr id="8" name="Test  8~14주">
            <a:extLst xmlns:a="http://schemas.openxmlformats.org/drawingml/2006/main">
              <a:ext uri="{FF2B5EF4-FFF2-40B4-BE49-F238E27FC236}">
                <a16:creationId xmlns:a16="http://schemas.microsoft.com/office/drawing/2014/main" id="{7F2A8AFB-B1A6-4411-8788-AADFD78B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Test  8~14주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56F82E30-069B-4AD6-A305-50FF933B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8~11주: 시간·전처리 비율&#10;12~14주:">
            <a:extLst xmlns:a="http://schemas.openxmlformats.org/drawingml/2006/main">
              <a:ext uri="{FF2B5EF4-FFF2-40B4-BE49-F238E27FC236}">
                <a16:creationId xmlns:a16="http://schemas.microsoft.com/office/drawing/2014/main" id="{D393D7C5-2520-4BA9-AB15-B6D31A38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23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8~11주: 시간·전처리 비율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12~14주: 답변 초안 적합률</a:t>
            </a:r>
          </a:p>
        </p:txBody>
      </p:sp>
      <p:sp>
        <p:nvSpPr>
          <p:cNvPr id="11" name="Post-test  10~14주">
            <a:extLst xmlns:a="http://schemas.openxmlformats.org/drawingml/2006/main">
              <a:ext uri="{FF2B5EF4-FFF2-40B4-BE49-F238E27FC236}">
                <a16:creationId xmlns:a16="http://schemas.microsoft.com/office/drawing/2014/main" id="{7C633EFF-07B0-4D23-8546-CBCA59C0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Post-test  10~14주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68AE03E2-863B-4F33-B218-05E1B156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실패 원인별 검색 규칙·프롬프트·UI 수정&#10;">
            <a:extLst xmlns:a="http://schemas.openxmlformats.org/drawingml/2006/main">
              <a:ext uri="{FF2B5EF4-FFF2-40B4-BE49-F238E27FC236}">
                <a16:creationId xmlns:a16="http://schemas.microsoft.com/office/drawing/2014/main" id="{116FB152-3FC7-4126-8E8D-B27A69DC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14600"/>
            <a:ext cx="323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실패 원인별 검색 규칙·프롬프트·UI 수정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Sprint Review 이후 재테스트</a:t>
            </a:r>
          </a:p>
        </p:txBody>
      </p:sp>
      <p:sp>
        <p:nvSpPr>
          <p:cNvPr id="14" name="divider">
            <a:extLst xmlns:a="http://schemas.openxmlformats.org/drawingml/2006/main">
              <a:ext uri="{FF2B5EF4-FFF2-40B4-BE49-F238E27FC236}">
                <a16:creationId xmlns:a16="http://schemas.microsoft.com/office/drawing/2014/main" id="{2F542F18-10ED-4ABC-BD1D-F0A9CCB5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구현 환경">
            <a:extLst xmlns:a="http://schemas.openxmlformats.org/drawingml/2006/main">
              <a:ext uri="{FF2B5EF4-FFF2-40B4-BE49-F238E27FC236}">
                <a16:creationId xmlns:a16="http://schemas.microsoft.com/office/drawing/2014/main" id="{52483B5E-78B7-4609-97B6-CB2C72F8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구현 환경</a:t>
            </a:r>
          </a:p>
        </p:txBody>
      </p:sp>
      <p:sp>
        <p:nvSpPr>
          <p:cNvPr id="16" name="Java / Spring Boot">
            <a:extLst xmlns:a="http://schemas.openxmlformats.org/drawingml/2006/main">
              <a:ext uri="{FF2B5EF4-FFF2-40B4-BE49-F238E27FC236}">
                <a16:creationId xmlns:a16="http://schemas.microsoft.com/office/drawing/2014/main" id="{26A1CF85-C743-4795-AF24-75C9FDAA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Java / Spring Boot</a:t>
            </a:r>
          </a:p>
        </p:txBody>
      </p:sp>
      <p:sp>
        <p:nvSpPr>
          <p:cNvPr id="17" name="코랩샵 샘플 SQL · 메모리 KB · 비식">
            <a:extLst xmlns:a="http://schemas.openxmlformats.org/drawingml/2006/main">
              <a:ext uri="{FF2B5EF4-FFF2-40B4-BE49-F238E27FC236}">
                <a16:creationId xmlns:a16="http://schemas.microsoft.com/office/drawing/2014/main" id="{776FFE44-8129-48E7-8D3E-D6BD7170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9700"/>
            <a:ext cx="666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코랩샵 샘플 SQL · 메모리 KB · 비식별 문의</a:t>
            </a:r>
          </a:p>
        </p:txBody>
      </p:sp>
      <p:sp>
        <p:nvSpPr>
          <p:cNvPr id="18" name="Git / GitHub  |  LLM 보조 ">
            <a:extLst xmlns:a="http://schemas.openxmlformats.org/drawingml/2006/main">
              <a:ext uri="{FF2B5EF4-FFF2-40B4-BE49-F238E27FC236}">
                <a16:creationId xmlns:a16="http://schemas.microsoft.com/office/drawing/2014/main" id="{EB8E8BD7-0E1B-4522-8BF0-1617957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Git / GitHub  |  LLM 보조 + 규칙 fallback  |  로컬·시나리오 테스트</a:t>
            </a:r>
          </a:p>
        </p:txBody>
      </p:sp>
    </p:spTree>
    <p:extLst>
      <p:ext uri="{BB962C8B-B14F-4D97-AF65-F5344CB8AC3E}">
        <p14:creationId xmlns:p14="http://schemas.microsoft.com/office/powerpoint/2010/main" val="14730285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4  팀 구성 및 추진 일정">
            <a:extLst xmlns:a="http://schemas.openxmlformats.org/drawingml/2006/main">
              <a:ext uri="{FF2B5EF4-FFF2-40B4-BE49-F238E27FC236}">
                <a16:creationId xmlns:a16="http://schemas.microsoft.com/office/drawing/2014/main" id="{D06829AB-041C-4B77-9E88-0CB915E4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04  팀 구성 및 추진 일정</a:t>
            </a:r>
          </a:p>
        </p:txBody>
      </p:sp>
      <p:sp>
        <p:nvSpPr>
          <p:cNvPr id="2" name="팀 구성과 담당 업무">
            <a:extLst xmlns:a="http://schemas.openxmlformats.org/drawingml/2006/main">
              <a:ext uri="{FF2B5EF4-FFF2-40B4-BE49-F238E27FC236}">
                <a16:creationId xmlns:a16="http://schemas.microsoft.com/office/drawing/2014/main" id="{C9438CAD-14E0-4C7E-AFCB-E9621ECE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팀 구성과 담당 업무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85D0EF5E-FD3E-4C4D-BD4C-76716341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27D2D1DA-54CB-464F-AA95-C0B28AAA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15</a:t>
            </a:r>
          </a:p>
        </p:txBody>
      </p:sp>
      <p:sp>
        <p:nvSpPr>
          <p:cNvPr id="5" name="권경민  ·  팀장 / Product Own">
            <a:extLst xmlns:a="http://schemas.openxmlformats.org/drawingml/2006/main">
              <a:ext uri="{FF2B5EF4-FFF2-40B4-BE49-F238E27FC236}">
                <a16:creationId xmlns:a16="http://schemas.microsoft.com/office/drawing/2014/main" id="{4147AFEA-3676-435D-8EF4-DCBAC07F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권경민  ·  팀장 / Product Owner</a:t>
            </a:r>
          </a:p>
        </p:txBody>
      </p:sp>
      <p:sp>
        <p:nvSpPr>
          <p:cNvPr id="6" name="백엔드·데이터 담당">
            <a:extLst xmlns:a="http://schemas.openxmlformats.org/drawingml/2006/main">
              <a:ext uri="{FF2B5EF4-FFF2-40B4-BE49-F238E27FC236}">
                <a16:creationId xmlns:a16="http://schemas.microsoft.com/office/drawing/2014/main" id="{DC007545-D599-4EEC-8770-5FDB4821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0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백엔드·데이터 담당</a:t>
            </a:r>
          </a:p>
        </p:txBody>
      </p:sp>
      <p:sp>
        <p:nvSpPr>
          <p:cNvPr id="7" name="일정·요구사항과 우선순위 관리&#10;시스템 구조,">
            <a:extLst xmlns:a="http://schemas.openxmlformats.org/drawingml/2006/main">
              <a:ext uri="{FF2B5EF4-FFF2-40B4-BE49-F238E27FC236}">
                <a16:creationId xmlns:a16="http://schemas.microsoft.com/office/drawing/2014/main" id="{C35D6171-8381-4335-A071-5D2102FF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일정·요구사항과 우선순위 관리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시스템 구조, 백엔드, 상품·문의 데이터 처리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GitHub 관리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5BCA311F-D10D-43CC-8C94-91AB0622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95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이우진  ·  AI·UI / 테스트·문서">
            <a:extLst xmlns:a="http://schemas.openxmlformats.org/drawingml/2006/main">
              <a:ext uri="{FF2B5EF4-FFF2-40B4-BE49-F238E27FC236}">
                <a16:creationId xmlns:a16="http://schemas.microsoft.com/office/drawing/2014/main" id="{69375D78-2B90-4468-AF96-16CD1B06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35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이우진  ·  AI·UI / 테스트·문서</a:t>
            </a:r>
          </a:p>
        </p:txBody>
      </p:sp>
      <p:sp>
        <p:nvSpPr>
          <p:cNvPr id="10" name="상담원 관점의 프로토타입 담당">
            <a:extLst xmlns:a="http://schemas.openxmlformats.org/drawingml/2006/main">
              <a:ext uri="{FF2B5EF4-FFF2-40B4-BE49-F238E27FC236}">
                <a16:creationId xmlns:a16="http://schemas.microsoft.com/office/drawing/2014/main" id="{F1F7CE03-2E3E-4ACA-901B-2AE784CC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38400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0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상담원 관점의 프로토타입 담당</a:t>
            </a:r>
          </a:p>
        </p:txBody>
      </p:sp>
      <p:sp>
        <p:nvSpPr>
          <p:cNvPr id="11" name="AI 문의 분석·답변 초안 기능 정리&#10;UI·">
            <a:extLst xmlns:a="http://schemas.openxmlformats.org/drawingml/2006/main">
              <a:ext uri="{FF2B5EF4-FFF2-40B4-BE49-F238E27FC236}">
                <a16:creationId xmlns:a16="http://schemas.microsoft.com/office/drawing/2014/main" id="{B256369B-9536-4C25-88C0-7D91BD84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4810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AI 문의 분석·답변 초안 기능 정리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UI·AS-IS/TO-BE 시나리오 작성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7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기능 테스트, 발표자료·보고서 작성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4D60C981-F15B-4508-84E7-3354F408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공통: Sprint 기록과 GitHub 이슈">
            <a:extLst xmlns:a="http://schemas.openxmlformats.org/drawingml/2006/main">
              <a:ext uri="{FF2B5EF4-FFF2-40B4-BE49-F238E27FC236}">
                <a16:creationId xmlns:a16="http://schemas.microsoft.com/office/drawing/2014/main" id="{2CC3E6F4-B7B4-461A-B914-AF425AF5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500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공통: Sprint 기록과 GitHub 이슈·PR을 활용해 구현과 검토를 공유</a:t>
            </a:r>
          </a:p>
        </p:txBody>
      </p:sp>
    </p:spTree>
    <p:extLst>
      <p:ext uri="{BB962C8B-B14F-4D97-AF65-F5344CB8AC3E}">
        <p14:creationId xmlns:p14="http://schemas.microsoft.com/office/powerpoint/2010/main" val="5418361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04  팀 구성 및 추진 일정">
            <a:extLst xmlns:a="http://schemas.openxmlformats.org/drawingml/2006/main">
              <a:ext uri="{FF2B5EF4-FFF2-40B4-BE49-F238E27FC236}">
                <a16:creationId xmlns:a16="http://schemas.microsoft.com/office/drawing/2014/main" id="{137244B8-ABBF-4589-BA6A-3D0E5850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04  팀 구성 및 추진 일정</a:t>
            </a:r>
          </a:p>
        </p:txBody>
      </p:sp>
      <p:sp>
        <p:nvSpPr>
          <p:cNvPr id="2" name="5~15주차 추진 일정">
            <a:extLst xmlns:a="http://schemas.openxmlformats.org/drawingml/2006/main">
              <a:ext uri="{FF2B5EF4-FFF2-40B4-BE49-F238E27FC236}">
                <a16:creationId xmlns:a16="http://schemas.microsoft.com/office/drawing/2014/main" id="{B476643E-9BB5-44E5-B6B3-D5F608AB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5~15주차 추진 일정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9F5C37F0-800A-4941-A9BB-6977F1DB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AD619F1A-2FB8-4578-9CA4-9EF52339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16</a:t>
            </a:r>
          </a:p>
        </p:txBody>
      </p:sp>
      <p:sp>
        <p:nvSpPr>
          <p:cNvPr id="5" name="5~6주">
            <a:extLst xmlns:a="http://schemas.openxmlformats.org/drawingml/2006/main">
              <a:ext uri="{FF2B5EF4-FFF2-40B4-BE49-F238E27FC236}">
                <a16:creationId xmlns:a16="http://schemas.microsoft.com/office/drawing/2014/main" id="{D9867B4E-EE7C-4300-BBAB-A27F423E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676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5~6주</a:t>
            </a:r>
          </a:p>
        </p:txBody>
      </p:sp>
      <p:sp>
        <p:nvSpPr>
          <p:cNvPr id="6" name="기획·Backlog">
            <a:extLst xmlns:a="http://schemas.openxmlformats.org/drawingml/2006/main">
              <a:ext uri="{FF2B5EF4-FFF2-40B4-BE49-F238E27FC236}">
                <a16:creationId xmlns:a16="http://schemas.microsoft.com/office/drawing/2014/main" id="{07C80273-FFCA-46DF-9F72-173F9234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66900"/>
            <a:ext cx="2686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기획·Backlog</a:t>
            </a:r>
          </a:p>
        </p:txBody>
      </p:sp>
      <p:sp>
        <p:nvSpPr>
          <p:cNvPr id="7" name="페이퍼 프로토타입, 테스트 시나리오&#10;User">
            <a:extLst xmlns:a="http://schemas.openxmlformats.org/drawingml/2006/main">
              <a:ext uri="{FF2B5EF4-FFF2-40B4-BE49-F238E27FC236}">
                <a16:creationId xmlns:a16="http://schemas.microsoft.com/office/drawing/2014/main" id="{348398DF-EABE-40E3-B044-41779D3F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590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페이퍼 프로토타입, 테스트 시나리오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User Story와 수용 기준 확정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C8C1C8DA-05DC-406F-B1EE-A0AD8A54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7주">
            <a:extLst xmlns:a="http://schemas.openxmlformats.org/drawingml/2006/main">
              <a:ext uri="{FF2B5EF4-FFF2-40B4-BE49-F238E27FC236}">
                <a16:creationId xmlns:a16="http://schemas.microsoft.com/office/drawing/2014/main" id="{3A26E242-029C-4510-A446-8B36B0A2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676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7주</a:t>
            </a:r>
          </a:p>
        </p:txBody>
      </p:sp>
      <p:sp>
        <p:nvSpPr>
          <p:cNvPr id="10" name="Sprint 0">
            <a:extLst xmlns:a="http://schemas.openxmlformats.org/drawingml/2006/main">
              <a:ext uri="{FF2B5EF4-FFF2-40B4-BE49-F238E27FC236}">
                <a16:creationId xmlns:a16="http://schemas.microsoft.com/office/drawing/2014/main" id="{1E82765D-C7BE-456C-B6C5-AC665A64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05100"/>
            <a:ext cx="2686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Sprint 0</a:t>
            </a:r>
          </a:p>
        </p:txBody>
      </p:sp>
      <p:sp>
        <p:nvSpPr>
          <p:cNvPr id="11" name="1학기 MVP 점검, 구조와 데이터 흐름 설">
            <a:extLst xmlns:a="http://schemas.openxmlformats.org/drawingml/2006/main">
              <a:ext uri="{FF2B5EF4-FFF2-40B4-BE49-F238E27FC236}">
                <a16:creationId xmlns:a16="http://schemas.microsoft.com/office/drawing/2014/main" id="{1E7DF8C9-5C20-4F57-A860-2D8AE449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05100"/>
            <a:ext cx="590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1학기 MVP 점검, 구조와 데이터 흐름 설계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3CCC5787-BB89-44A2-8421-96E11E0A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8~11주">
            <a:extLst xmlns:a="http://schemas.openxmlformats.org/drawingml/2006/main">
              <a:ext uri="{FF2B5EF4-FFF2-40B4-BE49-F238E27FC236}">
                <a16:creationId xmlns:a16="http://schemas.microsoft.com/office/drawing/2014/main" id="{3208D158-10D3-4C8E-AF08-77932F96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676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8~11주</a:t>
            </a:r>
          </a:p>
        </p:txBody>
      </p:sp>
      <p:sp>
        <p:nvSpPr>
          <p:cNvPr id="14" name="Sprint 1">
            <a:extLst xmlns:a="http://schemas.openxmlformats.org/drawingml/2006/main">
              <a:ext uri="{FF2B5EF4-FFF2-40B4-BE49-F238E27FC236}">
                <a16:creationId xmlns:a16="http://schemas.microsoft.com/office/drawing/2014/main" id="{3E4C2C2F-34B1-49CE-8BF6-F51F96FE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43300"/>
            <a:ext cx="2686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Sprint 1</a:t>
            </a:r>
          </a:p>
        </p:txBody>
      </p:sp>
      <p:sp>
        <p:nvSpPr>
          <p:cNvPr id="15" name="문의 구조화·누락 확인, 상품·자료 검색&#10;R">
            <a:extLst xmlns:a="http://schemas.openxmlformats.org/drawingml/2006/main">
              <a:ext uri="{FF2B5EF4-FFF2-40B4-BE49-F238E27FC236}">
                <a16:creationId xmlns:a16="http://schemas.microsoft.com/office/drawing/2014/main" id="{83764E54-41A2-4C90-BCFA-292B7F6A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43300"/>
            <a:ext cx="590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문의 구조화·누락 확인, 상품·자료 검색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Review에서 처리 시간·전처리 비율 측정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6426F323-3D43-49DE-BE6B-21B49005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12~13주">
            <a:extLst xmlns:a="http://schemas.openxmlformats.org/drawingml/2006/main">
              <a:ext uri="{FF2B5EF4-FFF2-40B4-BE49-F238E27FC236}">
                <a16:creationId xmlns:a16="http://schemas.microsoft.com/office/drawing/2014/main" id="{53657A98-C534-4193-A296-A92D215C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676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12~13주</a:t>
            </a:r>
          </a:p>
        </p:txBody>
      </p:sp>
      <p:sp>
        <p:nvSpPr>
          <p:cNvPr id="18" name="Sprint 2">
            <a:extLst xmlns:a="http://schemas.openxmlformats.org/drawingml/2006/main">
              <a:ext uri="{FF2B5EF4-FFF2-40B4-BE49-F238E27FC236}">
                <a16:creationId xmlns:a16="http://schemas.microsoft.com/office/drawing/2014/main" id="{B1526DE3-7788-4797-8367-EA524192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81500"/>
            <a:ext cx="2686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Sprint 2</a:t>
            </a:r>
          </a:p>
        </p:txBody>
      </p:sp>
      <p:sp>
        <p:nvSpPr>
          <p:cNvPr id="19" name="답변 초안·승인·low-confidence ">
            <a:extLst xmlns:a="http://schemas.openxmlformats.org/drawingml/2006/main">
              <a:ext uri="{FF2B5EF4-FFF2-40B4-BE49-F238E27FC236}">
                <a16:creationId xmlns:a16="http://schemas.microsoft.com/office/drawing/2014/main" id="{FEFC22DF-55EC-4F62-8AD2-05803252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590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답변 초안·승인·low-confidence 예외 선정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초안 적합률 측정과 예외 기능 테스트</a:t>
            </a:r>
          </a:p>
        </p:txBody>
      </p:sp>
      <p:sp>
        <p:nvSpPr>
          <p:cNvPr id="20" name="divider">
            <a:extLst xmlns:a="http://schemas.openxmlformats.org/drawingml/2006/main">
              <a:ext uri="{FF2B5EF4-FFF2-40B4-BE49-F238E27FC236}">
                <a16:creationId xmlns:a16="http://schemas.microsoft.com/office/drawing/2014/main" id="{1DD6467B-1F9D-4C32-BDD9-D262A866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14~15주">
            <a:extLst xmlns:a="http://schemas.openxmlformats.org/drawingml/2006/main">
              <a:ext uri="{FF2B5EF4-FFF2-40B4-BE49-F238E27FC236}">
                <a16:creationId xmlns:a16="http://schemas.microsoft.com/office/drawing/2014/main" id="{BA642019-2CAD-41C6-A837-39FBF7D5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676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14~15주</a:t>
            </a:r>
          </a:p>
        </p:txBody>
      </p:sp>
      <p:sp>
        <p:nvSpPr>
          <p:cNvPr id="22" name="최종 Review">
            <a:extLst xmlns:a="http://schemas.openxmlformats.org/drawingml/2006/main">
              <a:ext uri="{FF2B5EF4-FFF2-40B4-BE49-F238E27FC236}">
                <a16:creationId xmlns:a16="http://schemas.microsoft.com/office/drawing/2014/main" id="{43E342DA-9538-41FA-8384-73258F1A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19700"/>
            <a:ext cx="2686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7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최종 Review</a:t>
            </a:r>
          </a:p>
        </p:txBody>
      </p:sp>
      <p:sp>
        <p:nvSpPr>
          <p:cNvPr id="23" name="초안 적합률 재검증, 시연&#10;발표·보고서·RE">
            <a:extLst xmlns:a="http://schemas.openxmlformats.org/drawingml/2006/main">
              <a:ext uri="{FF2B5EF4-FFF2-40B4-BE49-F238E27FC236}">
                <a16:creationId xmlns:a16="http://schemas.microsoft.com/office/drawing/2014/main" id="{A798A895-C722-44DA-8B18-82EC40E7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590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초안 적합률 재검증, 시연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발표·보고서·README 정리</a:t>
            </a:r>
          </a:p>
        </p:txBody>
      </p:sp>
      <p:sp>
        <p:nvSpPr>
          <p:cNvPr id="24" name="divider">
            <a:extLst xmlns:a="http://schemas.openxmlformats.org/drawingml/2006/main">
              <a:ext uri="{FF2B5EF4-FFF2-40B4-BE49-F238E27FC236}">
                <a16:creationId xmlns:a16="http://schemas.microsoft.com/office/drawing/2014/main" id="{00B3A343-8156-48FB-8096-B9A5A324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79195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04  팀 구성 및 추진 일정">
            <a:extLst xmlns:a="http://schemas.openxmlformats.org/drawingml/2006/main">
              <a:ext uri="{FF2B5EF4-FFF2-40B4-BE49-F238E27FC236}">
                <a16:creationId xmlns:a16="http://schemas.microsoft.com/office/drawing/2014/main" id="{B388109E-5A2E-46CB-B2CA-02291078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275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04  팀 구성 및 추진 일정</a:t>
            </a:r>
          </a:p>
        </p:txBody>
      </p:sp>
      <p:sp>
        <p:nvSpPr>
          <p:cNvPr id="2" name="위험 요소와 대응 방안">
            <a:extLst xmlns:a="http://schemas.openxmlformats.org/drawingml/2006/main">
              <a:ext uri="{FF2B5EF4-FFF2-40B4-BE49-F238E27FC236}">
                <a16:creationId xmlns:a16="http://schemas.microsoft.com/office/drawing/2014/main" id="{71347D22-2ED1-4AED-9A38-5149B8EF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925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위험 요소와 대응 방안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76EF0A75-F117-4583-B330-03E75803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D774A477-162E-4A56-8DA5-A9F4966B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125" b="0">
                <a:solidFill>
                  <a:srgbClr val="617178"/>
                </a:solidFill>
                <a:latin typeface="NanumBarunGothic"/>
                <a:ea typeface="NanumBarunGothic"/>
                <a:cs typeface="NanumBarunGothic"/>
              </a:rPr>
              <a:t>17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AA7EA62A-EA18-4B43-93C6-166CEFD9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01</a:t>
            </a:r>
          </a:p>
        </p:txBody>
      </p:sp>
      <p:sp>
        <p:nvSpPr>
          <p:cNvPr id="6" name="사용자·문의 데이터 부족">
            <a:extLst xmlns:a="http://schemas.openxmlformats.org/drawingml/2006/main">
              <a:ext uri="{FF2B5EF4-FFF2-40B4-BE49-F238E27FC236}">
                <a16:creationId xmlns:a16="http://schemas.microsoft.com/office/drawing/2014/main" id="{1A6864F7-165F-4D24-A3C0-AA863FF6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240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사용자·문의 데이터 부족</a:t>
            </a:r>
          </a:p>
        </p:txBody>
      </p:sp>
      <p:sp>
        <p:nvSpPr>
          <p:cNvPr id="7" name="비식별 1학기 사례와 멘토·업무 관계자 검증">
            <a:extLst xmlns:a="http://schemas.openxmlformats.org/drawingml/2006/main">
              <a:ext uri="{FF2B5EF4-FFF2-40B4-BE49-F238E27FC236}">
                <a16:creationId xmlns:a16="http://schemas.microsoft.com/office/drawing/2014/main" id="{8ED74285-C4A9-4779-BF99-B8092273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24050"/>
            <a:ext cx="576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비식별 1학기 사례와 멘토·업무 관계자 검증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미확보 시 시뮬레이션 한계 명시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CE0CDB43-EE6E-441B-8A3E-4B0A062C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6F5AFBB5-14AA-4A64-8CD4-253152CF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02</a:t>
            </a:r>
          </a:p>
        </p:txBody>
      </p:sp>
      <p:sp>
        <p:nvSpPr>
          <p:cNvPr id="10" name="재고·납기·가격 변동">
            <a:extLst xmlns:a="http://schemas.openxmlformats.org/drawingml/2006/main">
              <a:ext uri="{FF2B5EF4-FFF2-40B4-BE49-F238E27FC236}">
                <a16:creationId xmlns:a16="http://schemas.microsoft.com/office/drawing/2014/main" id="{12BA0409-E29A-4175-A1E2-1DAE79E8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527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재고·납기·가격 변동</a:t>
            </a:r>
          </a:p>
        </p:txBody>
      </p:sp>
      <p:sp>
        <p:nvSpPr>
          <p:cNvPr id="11" name="자동 확정 금지&#10;공개 정보와 상담원·공급사 ">
            <a:extLst xmlns:a="http://schemas.openxmlformats.org/drawingml/2006/main">
              <a:ext uri="{FF2B5EF4-FFF2-40B4-BE49-F238E27FC236}">
                <a16:creationId xmlns:a16="http://schemas.microsoft.com/office/drawing/2014/main" id="{94A7D8D5-C1C8-4BB7-9C21-03E471C0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52750"/>
            <a:ext cx="576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자동 확정 금지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공개 정보와 상담원·공급사 확인 항목 분리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B4B94008-E3AF-4609-9841-975CABDA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A0AFCEBD-88BA-4D54-9B86-85CD29F4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03</a:t>
            </a:r>
          </a:p>
        </p:txBody>
      </p:sp>
      <p:sp>
        <p:nvSpPr>
          <p:cNvPr id="14" name="LLM 환각·잘못된 후보">
            <a:extLst xmlns:a="http://schemas.openxmlformats.org/drawingml/2006/main">
              <a:ext uri="{FF2B5EF4-FFF2-40B4-BE49-F238E27FC236}">
                <a16:creationId xmlns:a16="http://schemas.microsoft.com/office/drawing/2014/main" id="{12F5DE2F-5154-4B4B-B3EE-59C9C034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814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LLM 환각·잘못된 후보</a:t>
            </a:r>
          </a:p>
        </p:txBody>
      </p:sp>
      <p:sp>
        <p:nvSpPr>
          <p:cNvPr id="15" name="후보·출처 제한과 규칙 fallback&#10;근거">
            <a:extLst xmlns:a="http://schemas.openxmlformats.org/drawingml/2006/main">
              <a:ext uri="{FF2B5EF4-FFF2-40B4-BE49-F238E27FC236}">
                <a16:creationId xmlns:a16="http://schemas.microsoft.com/office/drawing/2014/main" id="{9DEFCF95-C8CF-4009-860D-1C799AD2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81450"/>
            <a:ext cx="576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후보·출처 제한과 규칙 fallback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근거 표시 후 상담원 승인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3C98907B-805D-4E5E-B22D-87E5DC39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04">
            <a:extLst xmlns:a="http://schemas.openxmlformats.org/drawingml/2006/main">
              <a:ext uri="{FF2B5EF4-FFF2-40B4-BE49-F238E27FC236}">
                <a16:creationId xmlns:a16="http://schemas.microsoft.com/office/drawing/2014/main" id="{4D79CC33-B5EF-46C1-A178-3C562DFE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2400" b="1">
                <a:solidFill>
                  <a:srgbClr val="087D84"/>
                </a:solidFill>
                <a:latin typeface="NanumBarunGothic"/>
                <a:ea typeface="NanumBarunGothic"/>
                <a:cs typeface="NanumBarunGothic"/>
              </a:rPr>
              <a:t>04</a:t>
            </a:r>
          </a:p>
        </p:txBody>
      </p:sp>
      <p:sp>
        <p:nvSpPr>
          <p:cNvPr id="18" name="구현 담당 편중">
            <a:extLst xmlns:a="http://schemas.openxmlformats.org/drawingml/2006/main">
              <a:ext uri="{FF2B5EF4-FFF2-40B4-BE49-F238E27FC236}">
                <a16:creationId xmlns:a16="http://schemas.microsoft.com/office/drawing/2014/main" id="{35FA3A77-38D0-427F-999D-2A456EBE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101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800" b="1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구현 담당 편중</a:t>
            </a:r>
          </a:p>
        </p:txBody>
      </p:sp>
      <p:sp>
        <p:nvSpPr>
          <p:cNvPr id="19" name="기능·리뷰 담당 분리&#10;GitHub 이슈·PR">
            <a:extLst xmlns:a="http://schemas.openxmlformats.org/drawingml/2006/main">
              <a:ext uri="{FF2B5EF4-FFF2-40B4-BE49-F238E27FC236}">
                <a16:creationId xmlns:a16="http://schemas.microsoft.com/office/drawing/2014/main" id="{58F8CA91-2E86-4B83-A7E2-22695561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10150"/>
            <a:ext cx="576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기능·리뷰 담당 분리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1425" b="0">
                <a:solidFill>
                  <a:srgbClr val="15323C"/>
                </a:solidFill>
                <a:latin typeface="NanumBarunGothic"/>
                <a:ea typeface="NanumBarunGothic"/>
                <a:cs typeface="NanumBarunGothic"/>
              </a:rPr>
              <a:t>GitHub 이슈·PR과 주간 Sprint 기록</a:t>
            </a:r>
          </a:p>
        </p:txBody>
      </p:sp>
      <p:sp>
        <p:nvSpPr>
          <p:cNvPr id="20" name="divider">
            <a:extLst xmlns:a="http://schemas.openxmlformats.org/drawingml/2006/main">
              <a:ext uri="{FF2B5EF4-FFF2-40B4-BE49-F238E27FC236}">
                <a16:creationId xmlns:a16="http://schemas.microsoft.com/office/drawing/2014/main" id="{0C1B4C19-1449-4603-9FBE-AEA77C02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95550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532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감사합니다">
            <a:extLst xmlns:a="http://schemas.openxmlformats.org/drawingml/2006/main">
              <a:ext uri="{FF2B5EF4-FFF2-40B4-BE49-F238E27FC236}">
                <a16:creationId xmlns:a16="http://schemas.microsoft.com/office/drawing/2014/main" id="{A9E9EA45-7362-4187-91C5-39C572AB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100" b="1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defRPr>
            </a:pPr>
            <a:r>
              <a:rPr sz="5100" b="1">
                <a:solidFill>
                  <a:srgbClr val="FFFFFF"/>
                </a:solidFill>
                <a:latin typeface="NanumBarunGothic"/>
                <a:ea typeface="NanumBarunGothic"/>
                <a:cs typeface="NanumBarunGothic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821308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2026-10-12T01:16:46.7140000Z</dcterms:created>
  <dcterms:modified xsi:type="dcterms:W3CDTF">2026-10-12T01:16:46.7140000Z</dcterms:modified>
</coreProperties>
</file>
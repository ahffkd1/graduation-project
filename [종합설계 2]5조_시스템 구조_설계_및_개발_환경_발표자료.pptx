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171c7dca6a4f4b60" Type="http://schemas.openxmlformats.org/officeDocument/2006/relationships/notesMaster" Target="../notesMasters/notesMaster1.xml"  /><Relationship Id="R20b2fa58b51e4254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bd09b00e69874526" Type="http://schemas.openxmlformats.org/officeDocument/2006/relationships/notesMaster" Target="../notesMasters/notesMaster1.xml"  /><Relationship Id="Rc768464b9655431f" Type="http://schemas.openxmlformats.org/officeDocument/2006/relationships/slide" Target="../slides/slide7.xml"  /></Relationships>
</file>

<file path=ppt/notesSlides/_rels/notesSlide3.xml.rels><?xml version="1.0" encoding="UTF-8" standalone="yes" ?><Relationships xmlns="http://schemas.openxmlformats.org/package/2006/relationships"><Relationship Id="R709dfaa9d28541e8" Type="http://schemas.openxmlformats.org/officeDocument/2006/relationships/slide" Target="../slides/slide8.xml"  /><Relationship Id="Rb709987cd83b4de4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4bac404871cd41e8" Type="http://schemas.openxmlformats.org/officeDocument/2006/relationships/slide" Target="../slides/slide13.xml"  /><Relationship Id="R56a0a517685c406d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6ad51f532b814773" Type="http://schemas.openxmlformats.org/officeDocument/2006/relationships/slide" Target="../slides/slide15.xml"  /><Relationship Id="Rdec45cccb2fa4a1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342c2cb13f9e4ed3" Type="http://schemas.openxmlformats.org/officeDocument/2006/relationships/slide" Target="../slides/slide16.xml"  /><Relationship Id="Rbbfde11b05584777" Type="http://schemas.openxmlformats.org/officeDocument/2006/relationships/notesMaster" Target="../notesMasters/notesMaster1.xml" 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출처: 5조_시스템_구조_설계_및_개발_환경 (1).docx</a:t>
            </a:r>
          </a:p>
          <a:p xmlns:a="http://schemas.openxmlformats.org/drawingml/2006/main">
            <a:r>
              <a:t>https://chatgpt.com/library?file_id=libfile_a6f82651ac4c819183a06b1f4d6ee4f1&amp;account_id=personal</a:t>
            </a:r>
          </a:p>
          <a:p xmlns:a="http://schemas.openxmlformats.org/drawingml/2006/main">
            <a:r>
              <a:t>서식 참고: [종합설계2] 5조_Product_Backlog_발표자료.pptx</a:t>
            </a:r>
          </a:p>
          <a:p xmlns:a="http://schemas.openxmlformats.org/drawingml/2006/main">
            <a:r>
              <a:t>https://chatgpt.com/library?file_id=libfile_64e502df599c8191bd15aadb72d5e7d2&amp;account_id=personal</a:t>
            </a:r>
          </a:p>
          <a:p xmlns:a="http://schemas.openxmlformats.org/drawingml/2006/main">
            <a:r>
              <a:t>문서 위치: 표지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출처: 5조_시스템_구조_설계_및_개발_환경 (1).docx</a:t>
            </a:r>
          </a:p>
          <a:p xmlns:a="http://schemas.openxmlformats.org/drawingml/2006/main">
            <a:r>
              <a:t>https://chatgpt.com/library?file_id=libfile_a6f82651ac4c819183a06b1f4d6ee4f1&amp;account_id=personal</a:t>
            </a:r>
          </a:p>
          <a:p xmlns:a="http://schemas.openxmlformats.org/drawingml/2006/main">
            <a:r>
              <a:t>서식 참고: [종합설계2] 5조_Product_Backlog_발표자료.pptx</a:t>
            </a:r>
          </a:p>
          <a:p xmlns:a="http://schemas.openxmlformats.org/drawingml/2006/main">
            <a:r>
              <a:t>https://chatgpt.com/library?file_id=libfile_64e502df599c8191bd15aadb72d5e7d2&amp;account_id=personal</a:t>
            </a:r>
          </a:p>
          <a:p xmlns:a="http://schemas.openxmlformats.org/drawingml/2006/main">
            <a:r>
              <a:t>문서 위치: 2.1 계층별 책임 분담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출처: 5조_시스템_구조_설계_및_개발_환경 (1).docx</a:t>
            </a:r>
          </a:p>
          <a:p xmlns:a="http://schemas.openxmlformats.org/drawingml/2006/main">
            <a:r>
              <a:t>https://chatgpt.com/library?file_id=libfile_a6f82651ac4c819183a06b1f4d6ee4f1&amp;account_id=personal</a:t>
            </a:r>
          </a:p>
          <a:p xmlns:a="http://schemas.openxmlformats.org/drawingml/2006/main">
            <a:r>
              <a:t>서식 참고: [종합설계2] 5조_Product_Backlog_발표자료.pptx</a:t>
            </a:r>
          </a:p>
          <a:p xmlns:a="http://schemas.openxmlformats.org/drawingml/2006/main">
            <a:r>
              <a:t>https://chatgpt.com/library?file_id=libfile_64e502df599c8191bd15aadb72d5e7d2&amp;account_id=personal</a:t>
            </a:r>
          </a:p>
          <a:p xmlns:a="http://schemas.openxmlformats.org/drawingml/2006/main">
            <a:r>
              <a:t>문서 위치: 2.2 Core Flow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출처: 5조_시스템_구조_설계_및_개발_환경 (1).docx</a:t>
            </a:r>
          </a:p>
          <a:p xmlns:a="http://schemas.openxmlformats.org/drawingml/2006/main">
            <a:r>
              <a:t>https://chatgpt.com/library?file_id=libfile_a6f82651ac4c819183a06b1f4d6ee4f1&amp;account_id=personal</a:t>
            </a:r>
          </a:p>
          <a:p xmlns:a="http://schemas.openxmlformats.org/drawingml/2006/main">
            <a:r>
              <a:t>서식 참고: [종합설계2] 5조_Product_Backlog_발표자료.pptx</a:t>
            </a:r>
          </a:p>
          <a:p xmlns:a="http://schemas.openxmlformats.org/drawingml/2006/main">
            <a:r>
              <a:t>https://chatgpt.com/library?file_id=libfile_64e502df599c8191bd15aadb72d5e7d2&amp;account_id=personal</a:t>
            </a:r>
          </a:p>
          <a:p xmlns:a="http://schemas.openxmlformats.org/drawingml/2006/main">
            <a:r>
              <a:t>문서 위치: 4. 개발 환경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출처: 5조_시스템_구조_설계_및_개발_환경 (1).docx</a:t>
            </a:r>
          </a:p>
          <a:p xmlns:a="http://schemas.openxmlformats.org/drawingml/2006/main">
            <a:r>
              <a:t>https://chatgpt.com/library?file_id=libfile_a6f82651ac4c819183a06b1f4d6ee4f1&amp;account_id=personal</a:t>
            </a:r>
          </a:p>
          <a:p xmlns:a="http://schemas.openxmlformats.org/drawingml/2006/main">
            <a:r>
              <a:t>서식 참고: [종합설계2] 5조_Product_Backlog_발표자료.pptx</a:t>
            </a:r>
          </a:p>
          <a:p xmlns:a="http://schemas.openxmlformats.org/drawingml/2006/main">
            <a:r>
              <a:t>https://chatgpt.com/library?file_id=libfile_64e502df599c8191bd15aadb72d5e7d2&amp;account_id=personal</a:t>
            </a:r>
          </a:p>
          <a:p xmlns:a="http://schemas.openxmlformats.org/drawingml/2006/main">
            <a:r>
              <a:t>문서 위치: 5. Traceability US-06~10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출처: 5조_시스템_구조_설계_및_개발_환경 (1).docx</a:t>
            </a:r>
          </a:p>
          <a:p xmlns:a="http://schemas.openxmlformats.org/drawingml/2006/main">
            <a:r>
              <a:t>https://chatgpt.com/library?file_id=libfile_a6f82651ac4c819183a06b1f4d6ee4f1&amp;account_id=personal</a:t>
            </a:r>
          </a:p>
          <a:p xmlns:a="http://schemas.openxmlformats.org/drawingml/2006/main">
            <a:r>
              <a:t>서식 참고: [종합설계2] 5조_Product_Backlog_발표자료.pptx</a:t>
            </a:r>
          </a:p>
          <a:p xmlns:a="http://schemas.openxmlformats.org/drawingml/2006/main">
            <a:r>
              <a:t>https://chatgpt.com/library?file_id=libfile_64e502df599c8191bd15aadb72d5e7d2&amp;account_id=personal</a:t>
            </a:r>
          </a:p>
          <a:p xmlns:a="http://schemas.openxmlformats.org/drawingml/2006/main">
            <a:r>
              <a:t>문서 위치: 발표 마무리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 ?><Relationships xmlns="http://schemas.openxmlformats.org/package/2006/relationships"><Relationship Id="Rda22c244593b4f0b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aeeb583325234d43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840F68-D4C0-4041-80E4-EAC63AB53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8A1627-341A-4AB6-8F4D-A74ED6A644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023d3e6423494cb6" Type="http://schemas.openxmlformats.org/officeDocument/2006/relationships/slideLayout" Target="../slideLayouts/slideLayout1.xml"  /><Relationship Id="R4a4b4a47851442e5" Type="http://schemas.openxmlformats.org/officeDocument/2006/relationships/slideLayout" Target="../slideLayouts/slideLayout2.xml"  /><Relationship Id="R70b8738dcffc4851" Type="http://schemas.openxmlformats.org/officeDocument/2006/relationships/slideLayout" Target="../slideLayouts/slideLayout5.xml"  /><Relationship Id="R7e11543af00e46f3" Type="http://schemas.openxmlformats.org/officeDocument/2006/relationships/slideLayout" Target="../slideLayouts/slideLayout3.xml"  /><Relationship Id="R8de59714f55340a4" Type="http://schemas.openxmlformats.org/officeDocument/2006/relationships/slideLayout" Target="../slideLayouts/slideLayout2.xml"  /><Relationship Id="Rbbdc67e5d2194ebc" Type="http://schemas.openxmlformats.org/officeDocument/2006/relationships/slideLayout" Target="../slideLayouts/slideLayout4.xml"  /><Relationship Id="Rd36154bf4ef5446d" Type="http://schemas.openxmlformats.org/officeDocument/2006/relationships/theme" Target="../theme/theme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d3e6423494cb6"/>
    <p:sldLayoutId xmlns:r="http://schemas.openxmlformats.org/officeDocument/2006/relationships" id="2147483650" r:id="R4a4b4a47851442e5"/>
    <p:sldLayoutId xmlns:r="http://schemas.openxmlformats.org/officeDocument/2006/relationships" id="2147483651" r:id="R7e11543af00e46f3"/>
    <p:sldLayoutId xmlns:r="http://schemas.openxmlformats.org/officeDocument/2006/relationships" id="2147483652" r:id="Rbbdc67e5d2194ebc"/>
    <p:sldLayoutId xmlns:r="http://schemas.openxmlformats.org/officeDocument/2006/relationships" id="2147483653" r:id="R70b8738dcffc4851"/>
    <p:sldLayoutId xmlns:r="http://schemas.openxmlformats.org/officeDocument/2006/relationships" id="2147483654" r:id="R8de59714f55340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2a2bcfe3e31241b4" Type="http://schemas.openxmlformats.org/officeDocument/2006/relationships/slideLayout" Target="../slideLayouts/slideLayout2.xml"  /><Relationship Id="Rcd0e267150ad421a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8e2615205af043f3" Type="http://schemas.openxmlformats.org/officeDocument/2006/relationships/slideLayout" Target="../slideLayouts/slideLayout2.xml"  /><Relationship Id="R9eda583e3bf74ee9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114dfda862dc4435" Type="http://schemas.openxmlformats.org/officeDocument/2006/relationships/slideLayout" Target="../slideLayouts/slideLayout2.xml"  /><Relationship Id="R3fafdb2778d34bec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2704e2eff0e44469" Type="http://schemas.openxmlformats.org/officeDocument/2006/relationships/slideLayout" Target="../slideLayouts/slideLayout2.xml"  /><Relationship Id="R7e3ec90a2dba413d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70d3b292bb1f4938" Type="http://schemas.openxmlformats.org/officeDocument/2006/relationships/image" Target="../media/image1.png"  /><Relationship Id="R86ded011fcc64dce" Type="http://schemas.openxmlformats.org/officeDocument/2006/relationships/notesSlide" Target="../notesSlides/notesSlide6.xml"  /><Relationship Id="R9def9c0ed0ae40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67c96c0e24364004" Type="http://schemas.openxmlformats.org/officeDocument/2006/relationships/notesSlide" Target="../notesSlides/notesSlide2.xml"  /><Relationship Id="Rc440c155571943c8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1b2a854b70734f6b" Type="http://schemas.openxmlformats.org/officeDocument/2006/relationships/notesSlide" Target="../notesSlides/notesSlide3.xml"  /><Relationship Id="R32a82b3dce244216" Type="http://schemas.openxmlformats.org/officeDocument/2006/relationships/image" Target="../media/image2.png"  /><Relationship Id="R7bad56472f404af4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3be7e147a8a945ab" Type="http://schemas.openxmlformats.org/officeDocument/2006/relationships/image" Target="../media/image2.png"  /><Relationship Id="R4ba7a19c3cf1448b" Type="http://schemas.openxmlformats.org/officeDocument/2006/relationships/slideLayout" Target="../slideLayouts/slideLayout2.xml"  /><Relationship Id="R5611677897cd4f17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9a5102d668644c9e" Type="http://schemas.openxmlformats.org/officeDocument/2006/relationships/slideLayout" Target="../slideLayouts/slideLayout2.xml"  /><Relationship Id="Rc2ac5fbc44e4430c" Type="http://schemas.openxmlformats.org/officeDocument/2006/relationships/image" Target="../media/image4.png"  /><Relationship Id="Rfc833dbf17be46db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116fd8e8216a4cce" Type="http://schemas.openxmlformats.org/officeDocument/2006/relationships/slideLayout" Target="../slideLayouts/slideLayout2.xml"  /><Relationship Id="Rde36eedbd40042c5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d3baad735e874218" Type="http://schemas.openxmlformats.org/officeDocument/2006/relationships/slideLayout" Target="../slideLayouts/slideLayout2.xml"  /><Relationship Id="Re0f440185e87481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3c070a79b15047f4" Type="http://schemas.openxmlformats.org/officeDocument/2006/relationships/notesSlide" Target="../notesSlides/notesSlide4.xml"  /><Relationship Id="Reb77b36c09194f62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56871fecf5f44038" Type="http://schemas.openxmlformats.org/officeDocument/2006/relationships/slideLayout" Target="../slideLayouts/slideLayout2.xml"  /><Relationship Id="R8cb88765606b459c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2370c4fc3f0b4ba4" Type="http://schemas.openxmlformats.org/officeDocument/2006/relationships/notesSlide" Target="../notesSlides/notesSlide5.xml"  /><Relationship Id="R3013fc1424134e03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240d524df2e04754" Type="http://schemas.openxmlformats.org/officeDocument/2006/relationships/notesSlide" Target="../notesSlides/notesSlide6.xml"  /><Relationship Id="R581ee5de73584b1a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urse">
            <a:extLst xmlns:a="http://schemas.openxmlformats.org/drawingml/2006/main">
              <a:ext uri="{FF2B5EF4-FFF2-40B4-BE49-F238E27FC236}">
                <a16:creationId xmlns:a16="http://schemas.microsoft.com/office/drawing/2014/main" id="{3F90C48A-B36F-4B44-96D7-8311D23E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9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rPr>
              <a:t>종합설계2   5조</a:t>
            </a:r>
          </a:p>
        </p:txBody>
      </p:sp>
      <p:sp>
        <p:nvSpPr>
          <p:cNvPr id="2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5A390DE7-8E4C-4935-8171-893B8AF0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buNone/>
              <a:defRPr sz="46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buNone/>
              <a:defRPr sz="46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buNone/>
              <a:defRPr sz="46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buNone/>
              <a:defRPr sz="46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buNone/>
              <a:defRPr sz="46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buNone/>
              <a:defRPr sz="46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buNone/>
              <a:defRPr sz="46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buNone/>
              <a:defRPr sz="46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buNone/>
              <a:defRPr sz="46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40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rPr>
              <a:t>전문 기자재 쇼핑몰 상담원을 위한 근거 기반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405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rPr>
              <a:t>문의 분석·답변 작성 지원 시스템</a:t>
            </a:r>
          </a:p>
        </p:txBody>
      </p:sp>
      <p:sp>
        <p:nvSpPr>
          <p:cNvPr id="3" name="project-subtitle">
            <a:extLst xmlns:a="http://schemas.openxmlformats.org/drawingml/2006/main">
              <a:ext uri="{FF2B5EF4-FFF2-40B4-BE49-F238E27FC236}">
                <a16:creationId xmlns:a16="http://schemas.microsoft.com/office/drawing/2014/main" id="{09DF35A1-6465-4C11-BCBE-4E1F2F68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rPr>
              <a:t>시스템 구조 설계 및 개발 환경</a:t>
            </a:r>
          </a:p>
        </p:txBody>
      </p:sp>
      <p:sp>
        <p:nvSpPr>
          <p:cNvPr id="5" name="member-label">
            <a:extLst xmlns:a="http://schemas.openxmlformats.org/drawingml/2006/main">
              <a:ext uri="{FF2B5EF4-FFF2-40B4-BE49-F238E27FC236}">
                <a16:creationId xmlns:a16="http://schemas.microsoft.com/office/drawing/2014/main" id="{C1063BFD-2709-4A06-B6FD-6E3C13E2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725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725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725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725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725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725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725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725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725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00" b="0">
                <a:solidFill>
                  <a:srgbClr val="B9CDD9"/>
                </a:solidFill>
                <a:latin typeface="Source Han Sans KR"/>
                <a:ea typeface="Source Han Sans KR"/>
                <a:cs typeface="Source Han Sans KR"/>
              </a:rPr>
              <a:t>발표자 |</a:t>
            </a:r>
          </a:p>
        </p:txBody>
      </p:sp>
      <p:sp>
        <p:nvSpPr>
          <p:cNvPr id="6" name="member-names">
            <a:extLst xmlns:a="http://schemas.openxmlformats.org/drawingml/2006/main">
              <a:ext uri="{FF2B5EF4-FFF2-40B4-BE49-F238E27FC236}">
                <a16:creationId xmlns:a16="http://schemas.microsoft.com/office/drawing/2014/main" id="{6222EADA-93FE-4152-BDBD-30062658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769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450" b="1">
                <a:solidFill>
                  <a:srgbClr val="61D3D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450" b="1">
                <a:solidFill>
                  <a:srgbClr val="61D3D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450" b="1">
                <a:solidFill>
                  <a:srgbClr val="61D3D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450" b="1">
                <a:solidFill>
                  <a:srgbClr val="61D3D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450" b="1">
                <a:solidFill>
                  <a:srgbClr val="61D3D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450" b="1">
                <a:solidFill>
                  <a:srgbClr val="61D3D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450" b="1">
                <a:solidFill>
                  <a:srgbClr val="61D3D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450" b="1">
                <a:solidFill>
                  <a:srgbClr val="61D3D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450" b="1">
                <a:solidFill>
                  <a:srgbClr val="61D3D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00" b="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rPr>
              <a:t>이우진</a:t>
            </a:r>
          </a:p>
        </p:txBody>
      </p:sp>
      <p:sp>
        <p:nvSpPr>
          <p:cNvPr id="9" name="team-name">
            <a:extLst xmlns:a="http://schemas.openxmlformats.org/drawingml/2006/main">
              <a:ext uri="{FF2B5EF4-FFF2-40B4-BE49-F238E27FC236}">
                <a16:creationId xmlns:a16="http://schemas.microsoft.com/office/drawing/2014/main" id="{977130AB-E3D8-4C1F-BC8D-7BE71F50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0960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00">
                <a:solidFill>
                  <a:srgbClr val="D4E0E8"/>
                </a:solidFill>
                <a:latin typeface="Source Han Sans KR"/>
                <a:ea typeface="Source Han Sans KR"/>
                <a:cs typeface="Source Han Sans KR"/>
              </a:rPr>
              <a:t>권경민</a:t>
            </a:r>
          </a:p>
        </p:txBody>
      </p:sp>
    </p:spTree>
    <p:extLst>
      <p:ext uri="{BB962C8B-B14F-4D97-AF65-F5344CB8AC3E}">
        <p14:creationId xmlns:p14="http://schemas.microsoft.com/office/powerpoint/2010/main" val="1300551970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9348E0-AB3B-47B7-BF14-BFE75857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목차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87F080-BAF1-4CF4-ABD5-8028D108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02</a:t>
            </a:r>
          </a:p>
        </p:txBody>
      </p:sp>
      <p:sp>
        <p:nvSpPr>
          <p:cNvPr id="12" name="index-0">
            <a:extLst xmlns:a="http://schemas.openxmlformats.org/drawingml/2006/main">
              <a:ext uri="{FF2B5EF4-FFF2-40B4-BE49-F238E27FC236}">
                <a16:creationId xmlns:a16="http://schemas.microsoft.com/office/drawing/2014/main" id="{99670A59-8636-4060-B7EB-86B69789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01</a:t>
            </a:r>
          </a:p>
        </p:txBody>
      </p:sp>
      <p:sp>
        <p:nvSpPr>
          <p:cNvPr id="13" name="topic-0">
            <a:extLst xmlns:a="http://schemas.openxmlformats.org/drawingml/2006/main">
              <a:ext uri="{FF2B5EF4-FFF2-40B4-BE49-F238E27FC236}">
                <a16:creationId xmlns:a16="http://schemas.microsoft.com/office/drawing/2014/main" id="{33ECA484-748C-454A-A0A5-75F34308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525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프로젝트 개요</a:t>
            </a:r>
          </a:p>
        </p:txBody>
      </p:sp>
      <p:sp>
        <p:nvSpPr>
          <p:cNvPr id="14" name="detail-0">
            <a:extLst xmlns:a="http://schemas.openxmlformats.org/drawingml/2006/main">
              <a:ext uri="{FF2B5EF4-FFF2-40B4-BE49-F238E27FC236}">
                <a16:creationId xmlns:a16="http://schemas.microsoft.com/office/drawing/2014/main" id="{591170FF-5D4C-4542-8CDC-C2176A54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71625"/>
            <a:ext cx="508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비전과 범위, 성공 지표</a:t>
            </a:r>
          </a:p>
        </p:txBody>
      </p:sp>
      <p:sp>
        <p:nvSpPr>
          <p:cNvPr id="15" name="index-1">
            <a:extLst xmlns:a="http://schemas.openxmlformats.org/drawingml/2006/main">
              <a:ext uri="{FF2B5EF4-FFF2-40B4-BE49-F238E27FC236}">
                <a16:creationId xmlns:a16="http://schemas.microsoft.com/office/drawing/2014/main" id="{8E0FCA18-909C-4F29-9A65-EFBBF708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02</a:t>
            </a:r>
          </a:p>
        </p:txBody>
      </p:sp>
      <p:sp>
        <p:nvSpPr>
          <p:cNvPr id="16" name="topic-1">
            <a:extLst xmlns:a="http://schemas.openxmlformats.org/drawingml/2006/main">
              <a:ext uri="{FF2B5EF4-FFF2-40B4-BE49-F238E27FC236}">
                <a16:creationId xmlns:a16="http://schemas.microsoft.com/office/drawing/2014/main" id="{4DB884BA-64F4-4935-95FF-C83825E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479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아키텍처 설계</a:t>
            </a:r>
          </a:p>
        </p:txBody>
      </p:sp>
      <p:sp>
        <p:nvSpPr>
          <p:cNvPr id="17" name="detail-1">
            <a:extLst xmlns:a="http://schemas.openxmlformats.org/drawingml/2006/main">
              <a:ext uri="{FF2B5EF4-FFF2-40B4-BE49-F238E27FC236}">
                <a16:creationId xmlns:a16="http://schemas.microsoft.com/office/drawing/2014/main" id="{6E56BD9C-F3C5-4C3B-AAFB-1B39FA92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66975"/>
            <a:ext cx="508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계층별 책임과 핵심 업무 흐름</a:t>
            </a:r>
          </a:p>
        </p:txBody>
      </p:sp>
      <p:sp>
        <p:nvSpPr>
          <p:cNvPr id="18" name="index-2">
            <a:extLst xmlns:a="http://schemas.openxmlformats.org/drawingml/2006/main">
              <a:ext uri="{FF2B5EF4-FFF2-40B4-BE49-F238E27FC236}">
                <a16:creationId xmlns:a16="http://schemas.microsoft.com/office/drawing/2014/main" id="{0081F5CE-7628-48A9-80EB-AEC28A9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03</a:t>
            </a:r>
          </a:p>
        </p:txBody>
      </p:sp>
      <p:sp>
        <p:nvSpPr>
          <p:cNvPr id="19" name="topic-2">
            <a:extLst xmlns:a="http://schemas.openxmlformats.org/drawingml/2006/main">
              <a:ext uri="{FF2B5EF4-FFF2-40B4-BE49-F238E27FC236}">
                <a16:creationId xmlns:a16="http://schemas.microsoft.com/office/drawing/2014/main" id="{E95BE9A1-F8AC-42A7-80F4-135E381D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432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데이터 및 API 설계</a:t>
            </a:r>
          </a:p>
        </p:txBody>
      </p:sp>
      <p:sp>
        <p:nvSpPr>
          <p:cNvPr id="20" name="detail-2">
            <a:extLst xmlns:a="http://schemas.openxmlformats.org/drawingml/2006/main">
              <a:ext uri="{FF2B5EF4-FFF2-40B4-BE49-F238E27FC236}">
                <a16:creationId xmlns:a16="http://schemas.microsoft.com/office/drawing/2014/main" id="{8A213627-4A4F-4CB3-A118-D6AE27F2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62325"/>
            <a:ext cx="508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ERD와 무결성 규칙, API</a:t>
            </a:r>
          </a:p>
        </p:txBody>
      </p:sp>
      <p:sp>
        <p:nvSpPr>
          <p:cNvPr id="21" name="index-3">
            <a:extLst xmlns:a="http://schemas.openxmlformats.org/drawingml/2006/main">
              <a:ext uri="{FF2B5EF4-FFF2-40B4-BE49-F238E27FC236}">
                <a16:creationId xmlns:a16="http://schemas.microsoft.com/office/drawing/2014/main" id="{CE56A6BE-2662-4909-824E-CC1A39E4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04</a:t>
            </a:r>
          </a:p>
        </p:txBody>
      </p:sp>
      <p:sp>
        <p:nvSpPr>
          <p:cNvPr id="22" name="topic-3">
            <a:extLst xmlns:a="http://schemas.openxmlformats.org/drawingml/2006/main">
              <a:ext uri="{FF2B5EF4-FFF2-40B4-BE49-F238E27FC236}">
                <a16:creationId xmlns:a16="http://schemas.microsoft.com/office/drawing/2014/main" id="{1C6F5C75-2862-43F9-91FC-143AE421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개발 환경</a:t>
            </a:r>
          </a:p>
        </p:txBody>
      </p:sp>
      <p:sp>
        <p:nvSpPr>
          <p:cNvPr id="23" name="detail-3">
            <a:extLst xmlns:a="http://schemas.openxmlformats.org/drawingml/2006/main">
              <a:ext uri="{FF2B5EF4-FFF2-40B4-BE49-F238E27FC236}">
                <a16:creationId xmlns:a16="http://schemas.microsoft.com/office/drawing/2014/main" id="{CC456BFC-DF4C-43CC-8667-B5A3DBB5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57675"/>
            <a:ext cx="508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기술 구성과 형상관리</a:t>
            </a:r>
          </a:p>
        </p:txBody>
      </p:sp>
      <p:sp>
        <p:nvSpPr>
          <p:cNvPr id="24" name="index-4">
            <a:extLst xmlns:a="http://schemas.openxmlformats.org/drawingml/2006/main">
              <a:ext uri="{FF2B5EF4-FFF2-40B4-BE49-F238E27FC236}">
                <a16:creationId xmlns:a16="http://schemas.microsoft.com/office/drawing/2014/main" id="{587B430B-B584-4ABE-B414-84D1C932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05</a:t>
            </a:r>
          </a:p>
        </p:txBody>
      </p:sp>
      <p:sp>
        <p:nvSpPr>
          <p:cNvPr id="25" name="topic-4">
            <a:extLst xmlns:a="http://schemas.openxmlformats.org/drawingml/2006/main">
              <a:ext uri="{FF2B5EF4-FFF2-40B4-BE49-F238E27FC236}">
                <a16:creationId xmlns:a16="http://schemas.microsoft.com/office/drawing/2014/main" id="{19677D1F-20B7-4013-8B04-8916948E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339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25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요구사항과 설계 연결</a:t>
            </a:r>
          </a:p>
        </p:txBody>
      </p:sp>
      <p:sp>
        <p:nvSpPr>
          <p:cNvPr id="26" name="detail-4">
            <a:extLst xmlns:a="http://schemas.openxmlformats.org/drawingml/2006/main">
              <a:ext uri="{FF2B5EF4-FFF2-40B4-BE49-F238E27FC236}">
                <a16:creationId xmlns:a16="http://schemas.microsoft.com/office/drawing/2014/main" id="{A2CBDD34-2113-4267-959D-A1BA569F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53025"/>
            <a:ext cx="508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US-01~US-10 추적성</a:t>
            </a:r>
          </a:p>
        </p:txBody>
      </p:sp>
    </p:spTree>
    <p:extLst>
      <p:ext uri="{BB962C8B-B14F-4D97-AF65-F5344CB8AC3E}">
        <p14:creationId xmlns:p14="http://schemas.microsoft.com/office/powerpoint/2010/main" val="582400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3129EB-3EAE-4624-A188-967C4566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프로젝트 비전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A330DE-9E11-4E63-9FE5-E582C571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03</a:t>
            </a:r>
          </a:p>
        </p:txBody>
      </p:sp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03039AA4-0346-47F0-A776-AC146178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복합 문의</a:t>
            </a:r>
          </a:p>
        </p:txBody>
      </p:sp>
      <p:sp>
        <p:nvSpPr>
          <p:cNvPr id="4" name="main-0">
            <a:extLst xmlns:a="http://schemas.openxmlformats.org/drawingml/2006/main">
              <a:ext uri="{FF2B5EF4-FFF2-40B4-BE49-F238E27FC236}">
                <a16:creationId xmlns:a16="http://schemas.microsoft.com/office/drawing/2014/main" id="{7FF56A82-B7DE-406B-92CA-27EFABC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8267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견적·재고·납기·호환 문의의 정보를 여러 자료에서 확인함.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363210D2-2411-4AB4-A2E5-D0EA32F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52650"/>
            <a:ext cx="8267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상품명·규격·수량·요청 의도를 파악하는 데 시간이 걸림.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B2B7F28E-2487-4CA1-BDE8-691EF3E7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누락 정보</a:t>
            </a:r>
          </a:p>
        </p:txBody>
      </p:sp>
      <p:sp>
        <p:nvSpPr>
          <p:cNvPr id="7" name="main-1">
            <a:extLst xmlns:a="http://schemas.openxmlformats.org/drawingml/2006/main">
              <a:ext uri="{FF2B5EF4-FFF2-40B4-BE49-F238E27FC236}">
                <a16:creationId xmlns:a16="http://schemas.microsoft.com/office/drawing/2014/main" id="{FBF5B4C4-29CB-4E1A-B4F3-BFFAFE2F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8267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누락 정보를 재질의하는 데 시간이 걸림.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334F55BB-7C31-4EFD-8AD7-AB94094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05200"/>
            <a:ext cx="8267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문의 내용을 구조화하고 추가 질문 문안을 제시함.</a:t>
            </a:r>
          </a:p>
        </p:txBody>
      </p:sp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FCC4EC56-964F-49CD-BEF2-7F3EC13E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4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상담원 지원</a:t>
            </a:r>
          </a:p>
        </p:txBody>
      </p:sp>
      <p:sp>
        <p:nvSpPr>
          <p:cNvPr id="10" name="main-2">
            <a:extLst xmlns:a="http://schemas.openxmlformats.org/drawingml/2006/main">
              <a:ext uri="{FF2B5EF4-FFF2-40B4-BE49-F238E27FC236}">
                <a16:creationId xmlns:a16="http://schemas.microsoft.com/office/drawing/2014/main" id="{0EA47FA3-D4FC-4589-A3F8-3DBBF095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8267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02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상품 후보·규격서·매뉴얼과 근거 출처를 함께 제공함.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D4290FFF-429C-4498-964D-19122DD0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8267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상담원이 답변 초안을 수정·검토한 뒤 최종 승인함.</a:t>
            </a:r>
          </a:p>
        </p:txBody>
      </p:sp>
      <p:sp>
        <p:nvSpPr>
          <p:cNvPr id="12" name="vision">
            <a:extLst xmlns:a="http://schemas.openxmlformats.org/drawingml/2006/main">
              <a:ext uri="{FF2B5EF4-FFF2-40B4-BE49-F238E27FC236}">
                <a16:creationId xmlns:a16="http://schemas.microsoft.com/office/drawing/2014/main" id="{EB409364-45F1-4623-92BF-730679FC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02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업무 시간을 줄이고 상담원의 최종 판단 권한을 유지함.</a:t>
            </a:r>
          </a:p>
        </p:txBody>
      </p:sp>
    </p:spTree>
    <p:extLst>
      <p:ext uri="{BB962C8B-B14F-4D97-AF65-F5344CB8AC3E}">
        <p14:creationId xmlns:p14="http://schemas.microsoft.com/office/powerpoint/2010/main" val="1856222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구현 범위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0A4EC-D269-4350-8C3B-B77CD2739DB6}"/>
              </a:ext>
            </a:extLst>
          </p:cNvPr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8724900"/>
              </a:tblGrid>
              <a:tr h="5715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구분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기능 및 경계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</a:tr>
              <a:tr h="8572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US-01~04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문의 조회·분석, 규격·수량 누락 확인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추가 질문 문안 제안 및 수정 반영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US-05~08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준비된 상품·자료 탐색과 출처 확인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근거 기반 초안 생성·저장, 상담원 수정·최종 승인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US-09~10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승인 완료 전 문의 현황과 우선순위 조회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제외 범위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공급사 실시간 가격·재고·납기 자동 확정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AI 단독 고객 답변 자동 전송, 외부 공급사 계정·권한 연동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">
            <a:extLst xmlns:a="http://schemas.openxmlformats.org/drawingml/2006/main">
              <a:ext uri="{FF2B5EF4-FFF2-40B4-BE49-F238E27FC236}">
                <a16:creationId xmlns:a16="http://schemas.microsoft.com/office/drawing/2014/main" id="{3E3CCAEF-6846-4386-9A1F-D7006D2F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검증 범위: 로컬 웹 MVP와 비식별 시나리오</a:t>
            </a:r>
          </a:p>
        </p:txBody>
      </p:sp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AF35F5-14CF-4AC7-B142-D0854390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성공 지표 목표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92FC98-7AA4-4EDF-AEF5-1B7BF4FC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05</a:t>
            </a:r>
          </a:p>
        </p:txBody>
      </p:sp>
      <p:sp>
        <p:nvSpPr>
          <p:cNvPr id="3" name="metric-title-0">
            <a:extLst xmlns:a="http://schemas.openxmlformats.org/drawingml/2006/main">
              <a:ext uri="{FF2B5EF4-FFF2-40B4-BE49-F238E27FC236}">
                <a16:creationId xmlns:a16="http://schemas.microsoft.com/office/drawing/2014/main" id="{C37DADEA-8320-4B9E-9425-625B4BAE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답변 초안 적합률</a:t>
            </a:r>
          </a:p>
        </p:txBody>
      </p:sp>
      <p:sp>
        <p:nvSpPr>
          <p:cNvPr id="4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ED595E6F-D125-4C62-920C-B46B4B67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90% 이상</a:t>
            </a:r>
          </a:p>
        </p:txBody>
      </p:sp>
      <p:sp>
        <p:nvSpPr>
          <p:cNvPr id="5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C53FB51E-F407-4FDD-927A-6B584F6C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상담원이 수정 후 사용할 수 있는지 평가함</a:t>
            </a:r>
          </a:p>
        </p:txBody>
      </p:sp>
      <p:sp>
        <p:nvSpPr>
          <p:cNvPr id="6" name="metric-title-1">
            <a:extLst xmlns:a="http://schemas.openxmlformats.org/drawingml/2006/main">
              <a:ext uri="{FF2B5EF4-FFF2-40B4-BE49-F238E27FC236}">
                <a16:creationId xmlns:a16="http://schemas.microsoft.com/office/drawing/2014/main" id="{ED410596-EEA7-4099-81D1-DCD2040C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621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평균 처리 시간</a:t>
            </a:r>
          </a:p>
        </p:txBody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B8A00D86-D2C1-47D3-A019-CC77C00A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675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30% 이상 단축</a:t>
            </a:r>
          </a:p>
        </p:txBody>
      </p:sp>
      <p:sp>
        <p:nvSpPr>
          <p:cNvPr id="8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F9E6DF76-F76F-4644-9175-A6264D5E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동일·유사 문의의 AS-IS / TO-BE 시간을 비교함</a:t>
            </a:r>
          </a:p>
        </p:txBody>
      </p:sp>
      <p:sp>
        <p:nvSpPr>
          <p:cNvPr id="9" name="metric-title-2">
            <a:extLst xmlns:a="http://schemas.openxmlformats.org/drawingml/2006/main">
              <a:ext uri="{FF2B5EF4-FFF2-40B4-BE49-F238E27FC236}">
                <a16:creationId xmlns:a16="http://schemas.microsoft.com/office/drawing/2014/main" id="{2B24A362-7362-4B8F-92E8-32D75A66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자동 전처리 완료 비율</a:t>
            </a:r>
          </a:p>
        </p:txBody>
      </p:sp>
      <p:sp>
        <p:nvSpPr>
          <p:cNvPr id="1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DA67CED8-2668-4C60-81C2-C4F0619B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40% 이상</a:t>
            </a:r>
          </a:p>
        </p:txBody>
      </p:sp>
      <p:sp>
        <p:nvSpPr>
          <p:cNvPr id="11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A0E9F61D-8111-4C04-BD48-FC80AEFC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핵심 정보·누락·상품 후보가</a:t>
            </a:r>
          </a:p>
          <a:p xmlns:a="http://schemas.openxmlformats.org/drawingml/2006/main">
            <a: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수작업 없이 제시된 문의 비율</a:t>
            </a:r>
          </a:p>
        </p:txBody>
      </p:sp>
      <p:sp>
        <p:nvSpPr>
          <p:cNvPr id="12" name="metric-title-3">
            <a:extLst xmlns:a="http://schemas.openxmlformats.org/drawingml/2006/main">
              <a:ext uri="{FF2B5EF4-FFF2-40B4-BE49-F238E27FC236}">
                <a16:creationId xmlns:a16="http://schemas.microsoft.com/office/drawing/2014/main" id="{762E30F2-B6F2-4F49-B802-2EEA46A8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유용성·통제감</a:t>
            </a:r>
          </a:p>
        </p:txBody>
      </p:sp>
      <p:sp>
        <p:nvSpPr>
          <p:cNvPr id="13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A6C6C1E4-2C43-4425-9EE3-61D9A35B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45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5점 평균 4.0 이상</a:t>
            </a:r>
          </a:p>
        </p:txBody>
      </p:sp>
      <p:sp>
        <p:nvSpPr>
          <p:cNvPr id="14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2E865E42-2791-4F1C-B44C-1B64F0AA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도움·근거 확인·최종 통제감을 상담원 설문으로 평가함</a:t>
            </a:r>
          </a:p>
        </p:txBody>
      </p:sp>
      <p:sp>
        <p:nvSpPr>
          <p:cNvPr id="15" name="measurement">
            <a:extLst xmlns:a="http://schemas.openxmlformats.org/drawingml/2006/main">
              <a:ext uri="{FF2B5EF4-FFF2-40B4-BE49-F238E27FC236}">
                <a16:creationId xmlns:a16="http://schemas.microsoft.com/office/drawing/2014/main" id="{1C0ECDE4-A123-4734-A859-AA4CBEAB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57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모두 목표치임. 상담원 확보 전 팀 검토·측정은 예비 검증으로 구분함.</a:t>
            </a:r>
          </a:p>
        </p:txBody>
      </p:sp>
    </p:spTree>
    <p:extLst>
      <p:ext uri="{BB962C8B-B14F-4D97-AF65-F5344CB8AC3E}">
        <p14:creationId xmlns:p14="http://schemas.microsoft.com/office/powerpoint/2010/main" val="1123855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논리 아키텍처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E004A-1693-40D7-998F-6F6E23E5B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3b292bb1f4938"/>
          <a:stretch xmlns:a="http://schemas.openxmlformats.org/drawingml/2006/main"/>
        </p:blipFill>
        <p:spPr>
          <a:xfrm xmlns:a="http://schemas.openxmlformats.org/drawingml/2006/main">
            <a:off x="687948" y="1552575"/>
            <a:ext cx="10816104" cy="3314700"/>
          </a:xfrm>
          <a:prstGeom xmlns:a="http://schemas.openxmlformats.org/drawingml/2006/main" prst="rect">
            <a:avLst/>
          </a:prstGeom>
        </p:spPr>
      </p:pic>
      <p:sp>
        <p:nvSpPr>
          <p:cNvPr id="6" name="main-summary">
            <a:extLst xmlns:a="http://schemas.openxmlformats.org/drawingml/2006/main">
              <a:ext uri="{FF2B5EF4-FFF2-40B4-BE49-F238E27FC236}">
                <a16:creationId xmlns:a16="http://schemas.microsoft.com/office/drawing/2014/main" id="{007698CC-B77C-4DF0-B935-7F155AC8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175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Controller에서 요청을 받고 Service에서 업무를 판단함</a:t>
            </a:r>
          </a:p>
        </p:txBody>
      </p:sp>
      <p:sp>
        <p:nvSpPr>
          <p:cNvPr id="7" name="note">
            <a:extLst xmlns:a="http://schemas.openxmlformats.org/drawingml/2006/main">
              <a:ext uri="{FF2B5EF4-FFF2-40B4-BE49-F238E27FC236}">
                <a16:creationId xmlns:a16="http://schemas.microsoft.com/office/drawing/2014/main" id="{6E9F5004-F55B-4F58-BBAD-1306D3FA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Repository는 DB 접근을 담당하며, Domain은 업무 모델과 상태·규칙을 표현함</a:t>
            </a:r>
          </a:p>
        </p:txBody>
      </p:sp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계층별 책임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0A4EC-D269-4350-8C3B-B77CD2739DB6}"/>
              </a:ext>
            </a:extLst>
          </p:cNvPr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286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47850"/>
                <a:gridCol w="6667500"/>
                <a:gridCol w="2305050"/>
              </a:tblGrid>
              <a:tr h="5524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계층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프로젝트에서의 역할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하지 말아야 할 것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</a:tr>
              <a:tr h="9334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Controller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API 요청 수신, ID·필수값 검증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결과와 확인 필요 사유를 DTO로 반환함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비즈니스 로직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Service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분석·누락·질문·탐색·초안·승인·현황 판단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LLM 어댑터와 규칙 fallback 호출함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HTTP 객체 직접 사용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Repository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문의·분석·상품·근거·초안 조회 및 저장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샘플 SQL을 초기 데이터로 변환함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업무 규칙 판단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Domain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문의·분석·상품·근거·초안과 처리 상태 표현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확인 필요·승인 전·승인 완료를 구분함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프레임워크 강한 의존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문의 분석과 누락 확인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9BDFE-D339-428C-9C1C-2D7E617C3C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82b3dce244216"/>
          <a:stretch xmlns:a="http://schemas.openxmlformats.org/drawingml/2006/main"/>
        </p:blipFill>
        <p:spPr>
          <a:xfrm xmlns:a="http://schemas.openxmlformats.org/drawingml/2006/main">
            <a:off x="685800" y="1506352"/>
            <a:ext cx="10820400" cy="422629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55D12DB2-F6A1-40DC-B590-61FEF904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규칙 fallback과 미확인 값 처리를 적용하며, 추가 질문 문안은 상담원이 수정함</a:t>
            </a:r>
          </a:p>
        </p:txBody>
      </p:sp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초안 작성과 상담원 최종 승인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1B85D-9C11-4EFA-9853-E82C933923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7e147a8a945ab"/>
          <a:stretch xmlns:a="http://schemas.openxmlformats.org/drawingml/2006/main"/>
        </p:blipFill>
        <p:spPr>
          <a:xfrm xmlns:a="http://schemas.openxmlformats.org/drawingml/2006/main">
            <a:off x="685800" y="1506352"/>
            <a:ext cx="10820400" cy="422629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913F13F0-F017-486A-AAE7-D752779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725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초안 생성과 승인을 구분함. 미확인 가격·재고·납기는 확정하지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데이터 관계 ERD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4CF25-CAFD-485D-88C8-8CC877A6E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c5fbc44e4430c"/>
          <a:stretch xmlns:a="http://schemas.openxmlformats.org/drawingml/2006/main"/>
        </p:blipFill>
        <p:spPr>
          <a:xfrm xmlns:a="http://schemas.openxmlformats.org/drawingml/2006/main">
            <a:off x="438150" y="1316683"/>
            <a:ext cx="7334250" cy="5139033"/>
          </a:xfrm>
          <a:prstGeom xmlns:a="http://schemas.openxmlformats.org/drawingml/2006/main" prst="rect">
            <a:avLst/>
          </a:prstGeom>
        </p:spPr>
      </p:pic>
      <p:sp>
        <p:nvSpPr>
          <p:cNvPr id="6" name="erd-title-0">
            <a:extLst xmlns:a="http://schemas.openxmlformats.org/drawingml/2006/main">
              <a:ext uri="{FF2B5EF4-FFF2-40B4-BE49-F238E27FC236}">
                <a16:creationId xmlns:a16="http://schemas.microsoft.com/office/drawing/2014/main" id="{8225022C-CE96-4F28-BEDA-681FED9B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525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문의와 분석</a:t>
            </a:r>
          </a:p>
        </p:txBody>
      </p:sp>
      <p:sp>
        <p:nvSpPr>
          <p:cNvPr id="7" name="erd-body-0">
            <a:extLst xmlns:a="http://schemas.openxmlformats.org/drawingml/2006/main">
              <a:ext uri="{FF2B5EF4-FFF2-40B4-BE49-F238E27FC236}">
                <a16:creationId xmlns:a16="http://schemas.microsoft.com/office/drawing/2014/main" id="{294C4694-3E21-4195-88F8-44D54EC7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문의 1건에 분석 결과</a:t>
            </a:r>
          </a:p>
          <a:p xmlns:a="http://schemas.openxmlformats.org/drawingml/2006/main">
            <a: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0~1건을 연결함</a:t>
            </a:r>
          </a:p>
        </p:txBody>
      </p:sp>
      <p:sp>
        <p:nvSpPr>
          <p:cNvPr id="8" name="erd-title-1">
            <a:extLst xmlns:a="http://schemas.openxmlformats.org/drawingml/2006/main">
              <a:ext uri="{FF2B5EF4-FFF2-40B4-BE49-F238E27FC236}">
                <a16:creationId xmlns:a16="http://schemas.microsoft.com/office/drawing/2014/main" id="{F8AA6E66-77D3-4018-B621-382AFD64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초안과 사용 근거</a:t>
            </a:r>
          </a:p>
        </p:txBody>
      </p:sp>
      <p:sp>
        <p:nvSpPr>
          <p:cNvPr id="9" name="erd-body-1">
            <a:extLst xmlns:a="http://schemas.openxmlformats.org/drawingml/2006/main">
              <a:ext uri="{FF2B5EF4-FFF2-40B4-BE49-F238E27FC236}">
                <a16:creationId xmlns:a16="http://schemas.microsoft.com/office/drawing/2014/main" id="{53AF8C5C-4438-4F7F-8B60-6CAB15F6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DraftEvidence로 N:M 관계를</a:t>
            </a:r>
          </a:p>
          <a:p xmlns:a="http://schemas.openxmlformats.org/drawingml/2006/main">
            <a: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연결하고 출처 사본을 보관함</a:t>
            </a:r>
          </a:p>
        </p:txBody>
      </p:sp>
      <p:sp>
        <p:nvSpPr>
          <p:cNvPr id="10" name="erd-title-2">
            <a:extLst xmlns:a="http://schemas.openxmlformats.org/drawingml/2006/main">
              <a:ext uri="{FF2B5EF4-FFF2-40B4-BE49-F238E27FC236}">
                <a16:creationId xmlns:a16="http://schemas.microsoft.com/office/drawing/2014/main" id="{81135269-0A68-4DF0-9C35-CFD475B4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2100" b="1">
                <a:solidFill>
                  <a:srgbClr val="116B84"/>
                </a:solidFill>
                <a:latin typeface="Source Han Sans KR"/>
                <a:ea typeface="Source Han Sans KR"/>
                <a:cs typeface="Source Han Sans KR"/>
              </a:rPr>
              <a:t>상태와 우선순위</a:t>
            </a:r>
          </a:p>
        </p:txBody>
      </p:sp>
      <p:sp>
        <p:nvSpPr>
          <p:cNvPr id="11" name="erd-body-2">
            <a:extLst xmlns:a="http://schemas.openxmlformats.org/drawingml/2006/main">
              <a:ext uri="{FF2B5EF4-FFF2-40B4-BE49-F238E27FC236}">
                <a16:creationId xmlns:a16="http://schemas.microsoft.com/office/drawing/2014/main" id="{8E437C80-F39C-468B-8FF9-0D9E0E8F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7682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초안 버전·승인 시각을 보관함</a:t>
            </a:r>
          </a:p>
          <a:p xmlns:a="http://schemas.openxmlformats.org/drawingml/2006/main">
            <a:pPr algn="l">
              <a:def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875" b="0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긴급도·접수 시각을 기록함</a:t>
            </a:r>
          </a:p>
        </p:txBody>
      </p:sp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데이터 무결성 규칙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0A4EC-D269-4350-8C3B-B77CD2739DB6}"/>
              </a:ext>
            </a:extLst>
          </p:cNvPr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343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143750"/>
                <a:gridCol w="3676650"/>
              </a:tblGrid>
              <a:tr h="5334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규칙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적용 위치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</a:tr>
              <a:tr h="7620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분석·초안은 존재하는 문의에 연결하고,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상품 자료는 존재하는 상품에 연결함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DB PK·FK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InquiryService / DraftService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자료 조회는 문의·초안·승인 상태를 변경하지 않음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EvidenceService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읽기 전용 트랜잭션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근거가 없으면 사실 답변 초안을 생성하지 않음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사용 근거와 출처 사본을 초안에 연결함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DraftService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DraftEvidence 복합 PK·FK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상담원의 명시적 승인 시 초안·문의 상태를 함께 저장함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ApprovalService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단일 트랜잭션·버전 검사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승인 전 문의를 미처리로 집계함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긴급 표기 우선, 같은 긴급도는 오래된 접수순으로 정렬함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StatusService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InquiryRepository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API 설계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0A4EC-D269-4350-8C3B-B77CD2739DB6}"/>
              </a:ext>
            </a:extLst>
          </p:cNvPr>
          <p:cNvGraphicFramePr/>
          <p:nvPr/>
        </p:nvGraphicFramePr>
        <p:xfrm>
          <a:off xmlns:a="http://schemas.openxmlformats.org/drawingml/2006/main" x="685800" y="1295400"/>
          <a:ext xmlns:a="http://schemas.openxmlformats.org/drawingml/2006/main" cx="10820400" cy="4591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57300"/>
                <a:gridCol w="5429250"/>
                <a:gridCol w="3086100"/>
                <a:gridCol w="1047750"/>
              </a:tblGrid>
              <a:tr h="4762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Method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Endpoint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처리 내용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관련 US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</a:tr>
              <a:tr h="5143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GET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/api/inquiries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/api/inquiries/{id}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문의 목록·원문 조회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01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POST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/api/inquiries/{id}/analysis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분석과 누락 확인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02·03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POST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PATCH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/api/inquiries/{id}/questions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추가 질문 생성·수정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04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GET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/api/products?query=&amp;spec=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상품 후보 조회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05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GET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/api/products/{id}/evidence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자료·출처 확인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06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POST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PATCH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/api/inquiries/{id}/draft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초안 생성·수정 저장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07·08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POST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/api/inquiries/{id}/approval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최종 승인·상태 변경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08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GET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/api/inquiries?status=pending&amp;sort=priority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미처리 현황·우선순위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09·10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">
            <a:extLst xmlns:a="http://schemas.openxmlformats.org/drawingml/2006/main">
              <a:ext uri="{FF2B5EF4-FFF2-40B4-BE49-F238E27FC236}">
                <a16:creationId xmlns:a16="http://schemas.microsoft.com/office/drawing/2014/main" id="{55C21815-8335-4951-93DD-FC2DC8B6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50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REST / JSON 형식이며, 경로의 {id}는 해당 문의 또는 상품의 식별자임</a:t>
            </a:r>
          </a:p>
        </p:txBody>
      </p:sp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개발 환경과 형상관리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0A4EC-D269-4350-8C3B-B77CD2739DB6}"/>
              </a:ext>
            </a:extLst>
          </p:cNvPr>
          <p:cNvGraphicFramePr/>
          <p:nvPr/>
        </p:nvGraphicFramePr>
        <p:xfrm>
          <a:off xmlns:a="http://schemas.openxmlformats.org/drawingml/2006/main" x="685800" y="1295400"/>
          <a:ext xmlns:a="http://schemas.openxmlformats.org/drawingml/2006/main" cx="10820400" cy="4476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52600"/>
                <a:gridCol w="5657850"/>
                <a:gridCol w="3409950"/>
              </a:tblGrid>
              <a:tr h="4762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항목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설정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관리 원칙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</a:tr>
              <a:tr h="5715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언어 / 런타임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JDK 17 LTS / Java 17 toolchain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패치 버전은 README에 기록함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프레임워크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Spring Boot 3.5.16 / Spring MVC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공식 요구사항 조합을 기준으로 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빌드 도구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Gradle Wrapper 8.14.6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./gradlew bootRun, ./gradlew test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Wrapper와 의존성 잠금 파일 공유함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DB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H2 2.3.232 로컬 파일 모드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샘플 SQL 초기 적재 / 메모리 KB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운영 DB 직접 연결 제외함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라이브러리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Spring Web·Data JPA·Validation·Test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LLM REST Adapter / 규칙 fallback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LLM 키는 환경변수로 분리함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형상관리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Git / GitHub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ahffkd1/Graduation-Project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문서·도식·코드·시나리오 관리함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브랜치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main / develop / feature-US-번호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상대 팀원 1인 검토 후 PR 병합안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">
            <a:extLst xmlns:a="http://schemas.openxmlformats.org/drawingml/2006/main">
              <a:ext uri="{FF2B5EF4-FFF2-40B4-BE49-F238E27FC236}">
                <a16:creationId xmlns:a16="http://schemas.microsoft.com/office/drawing/2014/main" id="{77AB91E8-75C1-410C-B805-F9509480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구축 기준안임. 세부 버전과 브랜치 규칙은 팀 검토 후 확정함</a:t>
            </a:r>
          </a:p>
        </p:txBody>
      </p:sp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요구사항과 설계 연결  US-01~05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0A4EC-D269-4350-8C3B-B77CD2739DB6}"/>
              </a:ext>
            </a:extLst>
          </p:cNvPr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457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3524250"/>
                <a:gridCol w="5867400"/>
              </a:tblGrid>
              <a:tr h="5524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기능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설계 요소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US-01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문의 접수·조회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InquiryService / Inquiry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GET /inquiries[/{id}]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US-02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문의 의도·핵심정보 구조화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AnalysisService / InquiryAnalysis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POST /inquiries/{id}/analysis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US-03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누락 필수정보 식별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MissingInfoService / InquiryAnalysis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POST /inquiries/{id}/analysis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US-04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추가 질문 문안 제안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QuestionService / question_text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POST·PATCH /inquiries/{id}/questions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US-05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상품 후보 탐색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SearchService / Product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GET /products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">
            <a:extLst xmlns:a="http://schemas.openxmlformats.org/drawingml/2006/main">
              <a:ext uri="{FF2B5EF4-FFF2-40B4-BE49-F238E27FC236}">
                <a16:creationId xmlns:a16="http://schemas.microsoft.com/office/drawing/2014/main" id="{3AF8F113-ECEF-49C0-A45E-D94B8E02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API 경로는 /api 접두사를 생략한 요약임</a:t>
            </a:r>
          </a:p>
        </p:txBody>
      </p:sp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F7AB8-1762-4D29-8FA8-9406865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3300" b="1">
                <a:solidFill>
                  <a:srgbClr val="172B40"/>
                </a:solidFill>
                <a:latin typeface="Source Han Sans KR"/>
                <a:ea typeface="Source Han Sans KR"/>
                <a:cs typeface="Source Han Sans KR"/>
              </a:rPr>
              <a:t>요구사항과 설계 연결  US-06~10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6DA359-A1F2-4860-B41A-A7B27D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3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0A4EC-D269-4350-8C3B-B77CD2739DB6}"/>
              </a:ext>
            </a:extLst>
          </p:cNvPr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457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3524250"/>
                <a:gridCol w="5867400"/>
              </a:tblGrid>
              <a:tr h="5524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기능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설계 요소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T w="9525">
                      <a:solidFill>
                        <a:srgbClr val="CFDBE1"/>
                      </a:solidFill>
                      <a:prstDash val="solid"/>
                    </a:lnT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11283D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US-06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규격서·매뉴얼 출처 확인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EvidenceService / Evidence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GET /products/{id}/evidence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US-07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근거 기반 답변 초안 작성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DraftService / Draft·DraftEvidence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POST /inquiries/{id}/draft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US-08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상담원 수정·최종 승인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ApprovalService / Draft·Inquiry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PATCH /draft · POST /approval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US-09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미처리 문의 현황 조회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StatusService / Inquiry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GET /inquiries?status=pending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US-10</a:t>
                      </a:r>
                    </a:p>
                  </a:txBody>
                  <a:tcPr marL="133350" marR="133350" marT="38100" marB="38100" anchor="ctr">
                    <a:lnL w="9525">
                      <a:solidFill>
                        <a:srgbClr val="CFDBE1"/>
                      </a:solidFill>
                      <a:prstDash val="solid"/>
                    </a:lnL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문의 우선순위 표시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3335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StatusService / InquiryRepository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40"/>
                          </a:solidFill>
                          <a:latin typeface="Source Han Sans KR"/>
                          <a:ea typeface="Source Han Sans KR"/>
                          <a:cs typeface="Source Han Sans KR"/>
                        </a:rPr>
                        <a:t>GET /inquiries?sort=priority</a:t>
                      </a:r>
                    </a:p>
                  </a:txBody>
                  <a:tcPr marL="133350" marR="133350" marT="38100" marB="38100" anchor="ctr">
                    <a:lnR w="9525">
                      <a:solidFill>
                        <a:srgbClr val="CFDBE1"/>
                      </a:solidFill>
                      <a:prstDash val="solid"/>
                    </a:lnR>
                    <a:lnB w="9525">
                      <a:solidFill>
                        <a:srgbClr val="CF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">
            <a:extLst xmlns:a="http://schemas.openxmlformats.org/drawingml/2006/main">
              <a:ext uri="{FF2B5EF4-FFF2-40B4-BE49-F238E27FC236}">
                <a16:creationId xmlns:a16="http://schemas.microsoft.com/office/drawing/2014/main" id="{CAA33F8F-5CA2-4BCF-8AC0-DCF5BFAA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defPPr>
            <a:lvl1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1650" b="0">
                <a:solidFill>
                  <a:srgbClr val="536678"/>
                </a:solidFill>
                <a:latin typeface="Source Han Sans KR"/>
                <a:ea typeface="Source Han Sans KR"/>
                <a:cs typeface="Source Han Sans KR"/>
              </a:rPr>
              <a:t>초안·승인 경로는 해당 문의 ID를 포함한 API 설계를 따름</a:t>
            </a:r>
          </a:p>
        </p:txBody>
      </p:sp>
    </p:spTree>
    <p:extLst>
      <p:ext uri="{BB962C8B-B14F-4D97-AF65-F5344CB8AC3E}">
        <p14:creationId xmlns:p14="http://schemas.microsoft.com/office/powerpoint/2010/main" val="9117379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losing-thanks">
            <a:extLst xmlns:a="http://schemas.openxmlformats.org/drawingml/2006/main">
              <a:ext uri="{FF2B5EF4-FFF2-40B4-BE49-F238E27FC236}">
                <a16:creationId xmlns:a16="http://schemas.microsoft.com/office/drawing/2014/main" id="{EF00965A-6971-4A6D-B1CB-62462BBA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defPPr>
            <a:lvl1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1pPr>
            <a:lvl2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2pPr>
            <a:lvl3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3pPr>
            <a:lvl4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4pPr>
            <a:lvl5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5pPr>
            <a:lvl6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6pPr>
            <a:lvl7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7pPr>
            <a:lvl8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8pPr>
            <a:lvl9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lvl9pPr>
          </a:lstStyle>
          <a:p xmlns:a="http://schemas.openxmlformats.org/drawingml/2006/main">
            <a:pPr algn="ctr">
              <a:buNone/>
              <a:def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defRPr>
            </a:pPr>
            <a:r>
              <a:rPr sz="4200" b="1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881790943"/>
      </p:ext>
    </p:extLst>
  </p:cSld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ource Han Sans KR"/>
        <a:ea typeface=""/>
        <a:cs typeface=""/>
      </a:majorFont>
      <a:minorFont>
        <a:latin typeface="Source Han Sans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326</ep:Words>
  <ep:PresentationFormat>Converted Presentation</ep:PresentationFormat>
  <ep:Paragraphs>93</ep:Paragraphs>
  <ep:Slides>16</ep:Slides>
  <ep:Notes>16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fias0</cp:lastModifiedBy>
  <dcterms:modified xsi:type="dcterms:W3CDTF">2026-10-25T02:42:41.202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